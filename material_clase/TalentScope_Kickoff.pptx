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Relationship Id="rId4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762000" y="-762000"/>
            <a:ext cx="2921000" cy="2921000"/>
          </a:xfrm>
          <a:prstGeom prst="ellipse">
            <a:avLst/>
          </a:prstGeom>
          <a:solidFill>
            <a:srgbClr val="7DD3B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826000" y="5207000"/>
            <a:ext cx="1905000" cy="1905000"/>
          </a:xfrm>
          <a:prstGeom prst="ellipse">
            <a:avLst/>
          </a:prstGeom>
          <a:solidFill>
            <a:srgbClr val="FFD86B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22000" y="4953000"/>
            <a:ext cx="2286000" cy="2286000"/>
          </a:xfrm>
          <a:prstGeom prst="ellipse">
            <a:avLst/>
          </a:prstGeom>
          <a:solidFill>
            <a:srgbClr val="B9A6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9000" y="1460500"/>
            <a:ext cx="9525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2E8B6A"/>
                </a:solidFill>
                <a:latin typeface="Cascadia Code"/>
              </a:rPr>
              <a:t>DATANEXO S.A.S. PRESENTA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5500" y="1841500"/>
            <a:ext cx="1117600" cy="977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500" b="0">
                <a:solidFill>
                  <a:srgbClr val="22313F"/>
                </a:solidFill>
                <a:latin typeface="Segoe UI Emoji"/>
              </a:rPr>
              <a:t>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9000" y="2857500"/>
            <a:ext cx="5715000" cy="984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200" b="0">
                <a:solidFill>
                  <a:srgbClr val="22313F"/>
                </a:solidFill>
                <a:latin typeface="Segoe UI Black"/>
              </a:rPr>
              <a:t>TalentScope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9000" y="4127500"/>
            <a:ext cx="5461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300" b="0">
                <a:solidFill>
                  <a:srgbClr val="5D6B78"/>
                </a:solidFill>
                <a:latin typeface="Segoe UI"/>
              </a:rPr>
              <a:t>El observatorio del mercado laboral tech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9000" y="4953000"/>
            <a:ext cx="4318000" cy="373380"/>
          </a:xfrm>
          <a:prstGeom prst="roundRect">
            <a:avLst>
              <a:gd name="adj" fmla="val 50000"/>
            </a:avLst>
          </a:prstGeom>
          <a:solidFill>
            <a:srgbClr val="FFD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9000" y="4953000"/>
            <a:ext cx="4318000" cy="3733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22313F"/>
                </a:solidFill>
                <a:latin typeface="Segoe UI"/>
              </a:rPr>
              <a:t>Proyecto en curso · 15 oct → 9 dic 2026</a:t>
            </a:r>
          </a:p>
        </p:txBody>
      </p:sp>
      <p:pic>
        <p:nvPicPr>
          <p:cNvPr id="11" name="Picture 10" descr="graduada.jpg"/>
          <p:cNvPicPr>
            <a:picLocks noChangeAspect="1"/>
          </p:cNvPicPr>
          <p:nvPr/>
        </p:nvPicPr>
        <p:blipFill>
          <a:blip r:embed="rId3"/>
          <a:srcRect l="18803" r="18803"/>
          <a:stretch>
            <a:fillRect/>
          </a:stretch>
        </p:blipFill>
        <p:spPr>
          <a:xfrm>
            <a:off x="6667500" y="952500"/>
            <a:ext cx="4635500" cy="4953000"/>
          </a:xfrm>
          <a:prstGeom prst="roundRect">
            <a:avLst>
              <a:gd name="adj" fmla="val 8219"/>
            </a:avLst>
          </a:prstGeom>
          <a:effectLst>
            <a:outerShdw blurRad="317500" dist="114300" dir="5400000" algn="t" rotWithShape="0">
              <a:srgbClr val="22313F">
                <a:alpha val="18000"/>
              </a:srgbClr>
            </a:outerShdw>
          </a:effectLst>
        </p:spPr>
      </p:pic>
      <p:sp>
        <p:nvSpPr>
          <p:cNvPr id="12" name="Rounded Rectangle 11"/>
          <p:cNvSpPr/>
          <p:nvPr/>
        </p:nvSpPr>
        <p:spPr>
          <a:xfrm>
            <a:off x="7048500" y="5207000"/>
            <a:ext cx="2667000" cy="571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8500" y="5207000"/>
            <a:ext cx="266700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1">
                <a:solidFill>
                  <a:srgbClr val="22313F"/>
                </a:solidFill>
                <a:latin typeface="Segoe UI"/>
              </a:rPr>
              <a:t>🎓  Para tu primer empleo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25000" y="6464300"/>
            <a:ext cx="2286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9AA6B2"/>
                </a:solidFill>
                <a:latin typeface="Segoe UI"/>
              </a:rPr>
              <a:t>TalentScope · DataNexo   1/35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781800"/>
            <a:ext cx="342900" cy="76200"/>
          </a:xfrm>
          <a:prstGeom prst="rect">
            <a:avLst/>
          </a:prstGeom>
          <a:gradFill rotWithShape="1">
            <a:gsLst>
              <a:gs pos="0">
                <a:srgbClr val="7DD3B0"/>
              </a:gs>
              <a:gs pos="100000">
                <a:srgbClr val="B9A6F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A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525000" y="-1016000"/>
            <a:ext cx="3048000" cy="3048000"/>
          </a:xfrm>
          <a:prstGeom prst="ellipse">
            <a:avLst/>
          </a:prstGeom>
          <a:solidFill>
            <a:srgbClr val="2E4A63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9000" y="1270000"/>
            <a:ext cx="9525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FFD86B"/>
                </a:solidFill>
                <a:latin typeface="Cascadia Code"/>
              </a:rPr>
              <a:t>UNA PREGUNTA ANTES DE EMPEZAR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9000" y="1714500"/>
            <a:ext cx="6350000" cy="241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0">
                <a:solidFill>
                  <a:srgbClr val="FFF8EE"/>
                </a:solidFill>
                <a:latin typeface="Segoe UI Black"/>
              </a:rPr>
              <a:t>¿Cuánto te van a pagar en tu primer empleo? 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9000" y="4381500"/>
            <a:ext cx="6223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>
                <a:solidFill>
                  <a:srgbClr val="7DD3B0"/>
                </a:solidFill>
                <a:latin typeface="Segoe UI"/>
              </a:rPr>
              <a:t>¿Y qué tienes que aprender para conseguirlo? 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9000" y="5016500"/>
            <a:ext cx="622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AFC0CF"/>
                </a:solidFill>
                <a:latin typeface="Segoe UI"/>
              </a:rPr>
              <a:t>Nadie en este salón lo sabe con datos… todavía.</a:t>
            </a:r>
          </a:p>
        </p:txBody>
      </p:sp>
      <p:pic>
        <p:nvPicPr>
          <p:cNvPr id="7" name="Picture 6" descr="salario.jpg"/>
          <p:cNvPicPr>
            <a:picLocks noChangeAspect="1"/>
          </p:cNvPicPr>
          <p:nvPr/>
        </p:nvPicPr>
        <p:blipFill>
          <a:blip r:embed="rId3"/>
          <a:srcRect l="21117" r="21117"/>
          <a:stretch>
            <a:fillRect/>
          </a:stretch>
        </p:blipFill>
        <p:spPr>
          <a:xfrm>
            <a:off x="7620000" y="1270000"/>
            <a:ext cx="3810000" cy="4318000"/>
          </a:xfrm>
          <a:prstGeom prst="roundRect">
            <a:avLst>
              <a:gd name="adj" fmla="val 8000"/>
            </a:avLst>
          </a:prstGeom>
          <a:effectLst>
            <a:outerShdw blurRad="317500" dist="114300" dir="5400000" algn="t" rotWithShape="0">
              <a:srgbClr val="22313F">
                <a:alpha val="18000"/>
              </a:srgbClr>
            </a:outerShdw>
          </a:effectLst>
        </p:spPr>
      </p:pic>
      <p:sp>
        <p:nvSpPr>
          <p:cNvPr id="8" name="TextBox 7"/>
          <p:cNvSpPr txBox="1"/>
          <p:nvPr/>
        </p:nvSpPr>
        <p:spPr>
          <a:xfrm>
            <a:off x="9525000" y="6464300"/>
            <a:ext cx="2286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8FA3B5"/>
                </a:solidFill>
                <a:latin typeface="Segoe UI"/>
              </a:rPr>
              <a:t>TalentScope · DataNexo   2/35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81800"/>
            <a:ext cx="692150" cy="76200"/>
          </a:xfrm>
          <a:prstGeom prst="rect">
            <a:avLst/>
          </a:prstGeom>
          <a:gradFill rotWithShape="1">
            <a:gsLst>
              <a:gs pos="0">
                <a:srgbClr val="7DD3B0"/>
              </a:gs>
              <a:gs pos="100000">
                <a:srgbClr val="B9A6F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795000" y="-635000"/>
            <a:ext cx="2286000" cy="2286000"/>
          </a:xfrm>
          <a:prstGeom prst="ellipse">
            <a:avLst/>
          </a:prstGeom>
          <a:solidFill>
            <a:srgbClr val="8EC9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eunion.jpg"/>
          <p:cNvPicPr>
            <a:picLocks noChangeAspect="1"/>
          </p:cNvPicPr>
          <p:nvPr/>
        </p:nvPicPr>
        <p:blipFill>
          <a:blip r:embed="rId3"/>
          <a:srcRect l="20811" r="20811"/>
          <a:stretch>
            <a:fillRect/>
          </a:stretch>
        </p:blipFill>
        <p:spPr>
          <a:xfrm>
            <a:off x="889000" y="889000"/>
            <a:ext cx="4445000" cy="5080000"/>
          </a:xfrm>
          <a:prstGeom prst="roundRect">
            <a:avLst>
              <a:gd name="adj" fmla="val 6857"/>
            </a:avLst>
          </a:prstGeom>
          <a:effectLst>
            <a:outerShdw blurRad="317500" dist="114300" dir="5400000" algn="t" rotWithShape="0">
              <a:srgbClr val="22313F">
                <a:alpha val="18000"/>
              </a:srgbClr>
            </a:outerShdw>
          </a:effectLst>
        </p:spPr>
      </p:pic>
      <p:sp>
        <p:nvSpPr>
          <p:cNvPr id="4" name="TextBox 3"/>
          <p:cNvSpPr txBox="1"/>
          <p:nvPr/>
        </p:nvSpPr>
        <p:spPr>
          <a:xfrm>
            <a:off x="5842000" y="952500"/>
            <a:ext cx="9525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2E8B6A"/>
                </a:solidFill>
                <a:latin typeface="Cascadia Code"/>
              </a:rPr>
              <a:t>NUESTRO CLIENTE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42000" y="1333500"/>
            <a:ext cx="5461000" cy="1905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0" y="1587500"/>
            <a:ext cx="91440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500" b="0">
                <a:solidFill>
                  <a:srgbClr val="22313F"/>
                </a:solidFill>
                <a:latin typeface="Segoe UI Emoji"/>
              </a:rPr>
              <a:t>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75500" y="1555750"/>
            <a:ext cx="3937000" cy="88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22313F"/>
                </a:solidFill>
                <a:latin typeface="Segoe UI Black"/>
              </a:rPr>
              <a:t>Red de Empleabilidad Universitaria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75500" y="2413000"/>
            <a:ext cx="39370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0">
                <a:solidFill>
                  <a:srgbClr val="5D6B78"/>
                </a:solidFill>
                <a:latin typeface="Segoe UI"/>
              </a:rPr>
              <a:t>Universidades que quieren orientar mejor a sus estudiantes.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0" y="3492500"/>
            <a:ext cx="2635250" cy="2476500"/>
          </a:xfrm>
          <a:prstGeom prst="roundRect">
            <a:avLst>
              <a:gd name="adj" fmla="val 10256"/>
            </a:avLst>
          </a:prstGeom>
          <a:solidFill>
            <a:srgbClr val="FFF0E6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70600" y="3708400"/>
            <a:ext cx="568960" cy="497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0">
                <a:solidFill>
                  <a:srgbClr val="22313F"/>
                </a:solidFill>
                <a:latin typeface="Segoe UI Emoji"/>
              </a:rPr>
              <a:t>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0" y="4318000"/>
            <a:ext cx="212725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22313F"/>
                </a:solidFill>
                <a:latin typeface="Segoe UI Black"/>
              </a:rPr>
              <a:t>2 días por semana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0" y="4991100"/>
            <a:ext cx="2127250" cy="1206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5D6B78"/>
                </a:solidFill>
                <a:latin typeface="Segoe UI"/>
              </a:rPr>
              <a:t>Es lo que tardan hoy copiando ofertas a mano y juntando Excel.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67750" y="3492500"/>
            <a:ext cx="2635250" cy="2476500"/>
          </a:xfrm>
          <a:prstGeom prst="roundRect">
            <a:avLst>
              <a:gd name="adj" fmla="val 10256"/>
            </a:avLst>
          </a:prstGeom>
          <a:solidFill>
            <a:srgbClr val="EEF8F3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96350" y="3708400"/>
            <a:ext cx="568960" cy="497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0">
                <a:solidFill>
                  <a:srgbClr val="22313F"/>
                </a:solidFill>
                <a:latin typeface="Segoe UI Emoji"/>
              </a:rPr>
              <a:t>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21750" y="4318000"/>
            <a:ext cx="212725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22313F"/>
                </a:solidFill>
                <a:latin typeface="Segoe UI Black"/>
              </a:rPr>
              <a:t>Nos contrataron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21750" y="4705350"/>
            <a:ext cx="2127250" cy="1206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5D6B78"/>
                </a:solidFill>
                <a:latin typeface="Segoe UI"/>
              </a:rPr>
              <a:t>A DataNexo, una empresa de datos. O sea… a ustedes.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25000" y="6464300"/>
            <a:ext cx="2286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9AA6B2"/>
                </a:solidFill>
                <a:latin typeface="Segoe UI"/>
              </a:rPr>
              <a:t>TalentScope · DataNexo   3/35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781800"/>
            <a:ext cx="1041400" cy="76200"/>
          </a:xfrm>
          <a:prstGeom prst="rect">
            <a:avLst/>
          </a:prstGeom>
          <a:gradFill rotWithShape="1">
            <a:gsLst>
              <a:gs pos="0">
                <a:srgbClr val="7DD3B0"/>
              </a:gs>
              <a:gs pos="100000">
                <a:srgbClr val="B9A6F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571500" y="5207000"/>
            <a:ext cx="1905000" cy="1905000"/>
          </a:xfrm>
          <a:prstGeom prst="ellipse">
            <a:avLst/>
          </a:prstGeom>
          <a:solidFill>
            <a:srgbClr val="FFB38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9000" y="698500"/>
            <a:ext cx="10414000" cy="603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0">
                <a:solidFill>
                  <a:srgbClr val="22313F"/>
                </a:solidFill>
                <a:latin typeface="Segoe UI Black"/>
              </a:rPr>
              <a:t>El problema: datos regados y sucios 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89000" y="1778000"/>
            <a:ext cx="3175000" cy="4191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clado.jpg"/>
          <p:cNvPicPr>
            <a:picLocks noChangeAspect="1"/>
          </p:cNvPicPr>
          <p:nvPr/>
        </p:nvPicPr>
        <p:blipFill>
          <a:blip r:embed="rId3"/>
          <a:srcRect t="12500" b="12500"/>
          <a:stretch>
            <a:fillRect/>
          </a:stretch>
        </p:blipFill>
        <p:spPr>
          <a:xfrm>
            <a:off x="1079500" y="1968500"/>
            <a:ext cx="2794000" cy="1397000"/>
          </a:xfrm>
          <a:prstGeom prst="roundRect">
            <a:avLst>
              <a:gd name="adj" fmla="val 13636"/>
            </a:avLst>
          </a:prstGeom>
        </p:spPr>
      </p:pic>
      <p:sp>
        <p:nvSpPr>
          <p:cNvPr id="6" name="TextBox 5"/>
          <p:cNvSpPr txBox="1"/>
          <p:nvPr/>
        </p:nvSpPr>
        <p:spPr>
          <a:xfrm>
            <a:off x="1143000" y="3556000"/>
            <a:ext cx="2667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0">
                <a:solidFill>
                  <a:srgbClr val="22313F"/>
                </a:solidFill>
                <a:latin typeface="Segoe UI Black"/>
              </a:rPr>
              <a:t>🌐 Portal de empleo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064000"/>
            <a:ext cx="2667000" cy="165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1">
                <a:solidFill>
                  <a:srgbClr val="22313F"/>
                </a:solidFill>
                <a:latin typeface="Segoe UI"/>
              </a:rPr>
              <a:t>118 ofertas</a:t>
            </a:r>
            <a:r>
              <a:rPr sz="1450" b="0">
                <a:solidFill>
                  <a:srgbClr val="5D6B78"/>
                </a:solidFill>
                <a:latin typeface="Segoe UI"/>
              </a:rPr>
              <a:t> en </a:t>
            </a:r>
            <a:r>
              <a:rPr sz="1450" b="1">
                <a:solidFill>
                  <a:srgbClr val="22313F"/>
                </a:solidFill>
                <a:latin typeface="Segoe UI"/>
              </a:rPr>
              <a:t>6 páginas</a:t>
            </a:r>
            <a:r>
              <a:rPr sz="1450" b="0">
                <a:solidFill>
                  <a:srgbClr val="5D6B78"/>
                </a:solidFill>
                <a:latin typeface="Segoe UI"/>
              </a:rPr>
              <a:t>. Hay que entrar a cada una para ver las skills.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18000" y="1778000"/>
            <a:ext cx="3556000" cy="4191000"/>
          </a:xfrm>
          <a:prstGeom prst="roundRect">
            <a:avLst>
              <a:gd name="adj" fmla="val 7142"/>
            </a:avLst>
          </a:prstGeom>
          <a:solidFill>
            <a:srgbClr val="FFFFFF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excel.jpg"/>
          <p:cNvPicPr>
            <a:picLocks noChangeAspect="1"/>
          </p:cNvPicPr>
          <p:nvPr/>
        </p:nvPicPr>
        <p:blipFill>
          <a:blip r:embed="rId4"/>
          <a:srcRect t="20667" b="20667"/>
          <a:stretch>
            <a:fillRect/>
          </a:stretch>
        </p:blipFill>
        <p:spPr>
          <a:xfrm>
            <a:off x="4508500" y="1968500"/>
            <a:ext cx="3175000" cy="1397000"/>
          </a:xfrm>
          <a:prstGeom prst="roundRect">
            <a:avLst>
              <a:gd name="adj" fmla="val 13636"/>
            </a:avLst>
          </a:prstGeom>
        </p:spPr>
      </p:pic>
      <p:sp>
        <p:nvSpPr>
          <p:cNvPr id="10" name="TextBox 9"/>
          <p:cNvSpPr txBox="1"/>
          <p:nvPr/>
        </p:nvSpPr>
        <p:spPr>
          <a:xfrm>
            <a:off x="4572000" y="3556000"/>
            <a:ext cx="3048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0">
                <a:solidFill>
                  <a:srgbClr val="22313F"/>
                </a:solidFill>
                <a:latin typeface="Segoe UI Black"/>
              </a:rPr>
              <a:t>📄 Excel de los aliados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4064000"/>
            <a:ext cx="1524000" cy="419100"/>
          </a:xfrm>
          <a:prstGeom prst="rect">
            <a:avLst/>
          </a:prstGeom>
          <a:solidFill>
            <a:srgbClr val="FFFDF8"/>
          </a:solidFill>
          <a:ln w="12700">
            <a:solidFill>
              <a:srgbClr val="EEE3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73600" y="4064000"/>
            <a:ext cx="1397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22313F"/>
                </a:solidFill>
                <a:latin typeface="Cascadia Code"/>
              </a:rPr>
              <a:t>salario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6000" y="4064000"/>
            <a:ext cx="1524000" cy="419100"/>
          </a:xfrm>
          <a:prstGeom prst="rect">
            <a:avLst/>
          </a:prstGeom>
          <a:solidFill>
            <a:srgbClr val="FFFDF8"/>
          </a:solidFill>
          <a:ln w="12700">
            <a:solidFill>
              <a:srgbClr val="EEE3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97600" y="4064000"/>
            <a:ext cx="1397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22313F"/>
                </a:solidFill>
                <a:latin typeface="Cascadia Code"/>
              </a:rPr>
              <a:t>ciudad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0" y="4483100"/>
            <a:ext cx="1524000" cy="419100"/>
          </a:xfrm>
          <a:prstGeom prst="rect">
            <a:avLst/>
          </a:prstGeom>
          <a:solidFill>
            <a:srgbClr val="FFFDF8"/>
          </a:solidFill>
          <a:ln w="12700">
            <a:solidFill>
              <a:srgbClr val="EEE3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73600" y="4483100"/>
            <a:ext cx="1397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C2453A"/>
                </a:solidFill>
                <a:latin typeface="Cascadia Code"/>
              </a:rPr>
              <a:t>95M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96000" y="4483100"/>
            <a:ext cx="1524000" cy="419100"/>
          </a:xfrm>
          <a:prstGeom prst="rect">
            <a:avLst/>
          </a:prstGeom>
          <a:solidFill>
            <a:srgbClr val="FFFDF8"/>
          </a:solidFill>
          <a:ln w="12700">
            <a:solidFill>
              <a:srgbClr val="EEE3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97600" y="4483100"/>
            <a:ext cx="1397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C2453A"/>
                </a:solidFill>
                <a:latin typeface="Cascadia Code"/>
              </a:rPr>
              <a:t>MEDELLIN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0" y="4902200"/>
            <a:ext cx="1524000" cy="419100"/>
          </a:xfrm>
          <a:prstGeom prst="rect">
            <a:avLst/>
          </a:prstGeom>
          <a:solidFill>
            <a:srgbClr val="FFFDF8"/>
          </a:solidFill>
          <a:ln w="12700">
            <a:solidFill>
              <a:srgbClr val="EEE3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73600" y="4902200"/>
            <a:ext cx="1397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C2453A"/>
                </a:solidFill>
                <a:latin typeface="Cascadia Code"/>
              </a:rPr>
              <a:t>N/A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96000" y="4902200"/>
            <a:ext cx="1524000" cy="419100"/>
          </a:xfrm>
          <a:prstGeom prst="rect">
            <a:avLst/>
          </a:prstGeom>
          <a:solidFill>
            <a:srgbClr val="FFFDF8"/>
          </a:solidFill>
          <a:ln w="12700">
            <a:solidFill>
              <a:srgbClr val="EEE3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97600" y="4902200"/>
            <a:ext cx="1397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C2453A"/>
                </a:solidFill>
                <a:latin typeface="Cascadia Code"/>
              </a:rPr>
              <a:t>Bogotá D.C.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0" y="5321300"/>
            <a:ext cx="1524000" cy="419100"/>
          </a:xfrm>
          <a:prstGeom prst="rect">
            <a:avLst/>
          </a:prstGeom>
          <a:solidFill>
            <a:srgbClr val="FFFDF8"/>
          </a:solidFill>
          <a:ln w="12700">
            <a:solidFill>
              <a:srgbClr val="EEE3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73600" y="5321300"/>
            <a:ext cx="1397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C2453A"/>
                </a:solidFill>
                <a:latin typeface="Cascadia Code"/>
              </a:rPr>
              <a:t>450000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6000" y="5321300"/>
            <a:ext cx="1524000" cy="419100"/>
          </a:xfrm>
          <a:prstGeom prst="rect">
            <a:avLst/>
          </a:prstGeom>
          <a:solidFill>
            <a:srgbClr val="FFFDF8"/>
          </a:solidFill>
          <a:ln w="12700">
            <a:solidFill>
              <a:srgbClr val="EEE3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97600" y="5321300"/>
            <a:ext cx="1397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C2453A"/>
                </a:solidFill>
                <a:latin typeface="Cascadia Code"/>
              </a:rPr>
              <a:t>Teletrabajo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28000" y="1778000"/>
            <a:ext cx="3175000" cy="4191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318500" y="1968500"/>
            <a:ext cx="2794000" cy="1397000"/>
          </a:xfrm>
          <a:prstGeom prst="roundRect">
            <a:avLst>
              <a:gd name="adj" fmla="val 13636"/>
            </a:avLst>
          </a:prstGeom>
          <a:solidFill>
            <a:srgbClr val="EE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07500" y="2190750"/>
            <a:ext cx="1117600" cy="977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500" b="0">
                <a:solidFill>
                  <a:srgbClr val="22313F"/>
                </a:solidFill>
                <a:latin typeface="Segoe UI Emoji"/>
              </a:rPr>
              <a:t>👩‍🎓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0" y="3556000"/>
            <a:ext cx="2667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0">
                <a:solidFill>
                  <a:srgbClr val="22313F"/>
                </a:solidFill>
                <a:latin typeface="Segoe UI Black"/>
              </a:rPr>
              <a:t>🗂️ Egresados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2000" y="4064000"/>
            <a:ext cx="2667000" cy="165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1">
                <a:solidFill>
                  <a:srgbClr val="22313F"/>
                </a:solidFill>
                <a:latin typeface="Segoe UI"/>
              </a:rPr>
              <a:t>“Sí”, “si”, “SI”…</a:t>
            </a:r>
            <a:r>
              <a:rPr sz="1450" b="0">
                <a:solidFill>
                  <a:srgbClr val="5D6B78"/>
                </a:solidFill>
                <a:latin typeface="Segoe UI"/>
              </a:rPr>
              <a:t> y fechas escritas en </a:t>
            </a:r>
            <a:r>
              <a:rPr sz="1450" b="1">
                <a:solidFill>
                  <a:srgbClr val="22313F"/>
                </a:solidFill>
                <a:latin typeface="Segoe UI"/>
              </a:rPr>
              <a:t>5 formatos distintos</a:t>
            </a:r>
            <a:r>
              <a:rPr sz="1450" b="0">
                <a:solidFill>
                  <a:srgbClr val="5D6B78"/>
                </a:solidFill>
                <a:latin typeface="Segoe UI"/>
              </a:rPr>
              <a:t>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25000" y="6464300"/>
            <a:ext cx="2286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9AA6B2"/>
                </a:solidFill>
                <a:latin typeface="Segoe UI"/>
              </a:rPr>
              <a:t>TalentScope · DataNexo   4/35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781800"/>
            <a:ext cx="1390650" cy="76200"/>
          </a:xfrm>
          <a:prstGeom prst="rect">
            <a:avLst/>
          </a:prstGeom>
          <a:gradFill rotWithShape="1">
            <a:gsLst>
              <a:gs pos="0">
                <a:srgbClr val="7DD3B0"/>
              </a:gs>
              <a:gs pos="100000">
                <a:srgbClr val="B9A6F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89000" y="698500"/>
            <a:ext cx="10414000" cy="603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0">
                <a:solidFill>
                  <a:srgbClr val="22313F"/>
                </a:solidFill>
                <a:latin typeface="Segoe UI Black"/>
              </a:rPr>
              <a:t>Lo que vamos a automatizar 🤖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9000" y="1651000"/>
            <a:ext cx="4953000" cy="43180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06500" y="1841500"/>
            <a:ext cx="4445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>
                <a:solidFill>
                  <a:srgbClr val="C2453A"/>
                </a:solidFill>
                <a:latin typeface="Segoe UI Black"/>
              </a:rPr>
              <a:t>😩 Hoy, a mano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06500" y="2476500"/>
            <a:ext cx="4318000" cy="660400"/>
          </a:xfrm>
          <a:prstGeom prst="roundRect">
            <a:avLst>
              <a:gd name="adj" fmla="val 28846"/>
            </a:avLst>
          </a:prstGeom>
          <a:solidFill>
            <a:srgbClr val="FF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0500" y="2476500"/>
            <a:ext cx="3937000" cy="660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50" b="0">
                <a:solidFill>
                  <a:srgbClr val="22313F"/>
                </a:solidFill>
                <a:latin typeface="Segoe UI"/>
              </a:rPr>
              <a:t>Copiar 118 ofertas, una por una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06500" y="3302000"/>
            <a:ext cx="4318000" cy="660400"/>
          </a:xfrm>
          <a:prstGeom prst="roundRect">
            <a:avLst>
              <a:gd name="adj" fmla="val 28846"/>
            </a:avLst>
          </a:prstGeom>
          <a:solidFill>
            <a:srgbClr val="FF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0500" y="3302000"/>
            <a:ext cx="3937000" cy="660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50" b="0">
                <a:solidFill>
                  <a:srgbClr val="22313F"/>
                </a:solidFill>
                <a:latin typeface="Segoe UI"/>
              </a:rPr>
              <a:t>Abrir cada Excel y arreglarlo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06500" y="4127500"/>
            <a:ext cx="4318000" cy="660400"/>
          </a:xfrm>
          <a:prstGeom prst="roundRect">
            <a:avLst>
              <a:gd name="adj" fmla="val 28846"/>
            </a:avLst>
          </a:prstGeom>
          <a:solidFill>
            <a:srgbClr val="FF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60500" y="4127500"/>
            <a:ext cx="3937000" cy="660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50" b="0">
                <a:solidFill>
                  <a:srgbClr val="22313F"/>
                </a:solidFill>
                <a:latin typeface="Segoe UI"/>
              </a:rPr>
              <a:t>Contar skills con calculadora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06500" y="4953000"/>
            <a:ext cx="4318000" cy="660400"/>
          </a:xfrm>
          <a:prstGeom prst="roundRect">
            <a:avLst>
              <a:gd name="adj" fmla="val 28846"/>
            </a:avLst>
          </a:prstGeom>
          <a:solidFill>
            <a:srgbClr val="FF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60500" y="4953000"/>
            <a:ext cx="3937000" cy="660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50" b="0">
                <a:solidFill>
                  <a:srgbClr val="22313F"/>
                </a:solidFill>
                <a:latin typeface="Segoe UI"/>
              </a:rPr>
              <a:t>Armar el reporte en Word cada lunes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37250" y="3302000"/>
            <a:ext cx="889000" cy="711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0">
                <a:solidFill>
                  <a:srgbClr val="22313F"/>
                </a:solidFill>
                <a:latin typeface="Segoe UI Emoji"/>
              </a:rPr>
              <a:t>➡️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0" y="1651000"/>
            <a:ext cx="4445000" cy="43180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75500" y="1841500"/>
            <a:ext cx="3937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>
                <a:solidFill>
                  <a:srgbClr val="2E8B6A"/>
                </a:solidFill>
                <a:latin typeface="Segoe UI Black"/>
              </a:rPr>
              <a:t>✨ Con TalentScope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75500" y="2476500"/>
            <a:ext cx="3810000" cy="660400"/>
          </a:xfrm>
          <a:prstGeom prst="roundRect">
            <a:avLst>
              <a:gd name="adj" fmla="val 28846"/>
            </a:avLst>
          </a:prstGeom>
          <a:solidFill>
            <a:srgbClr val="EE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02500" y="2552700"/>
            <a:ext cx="508000" cy="508000"/>
          </a:xfrm>
          <a:prstGeom prst="ellipse">
            <a:avLst/>
          </a:prstGeom>
          <a:solidFill>
            <a:srgbClr val="FFD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02500" y="2552700"/>
            <a:ext cx="5080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0">
                <a:solidFill>
                  <a:srgbClr val="22313F"/>
                </a:solidFill>
                <a:latin typeface="Segoe UI Black"/>
              </a:rPr>
              <a:t>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69250" y="2476500"/>
            <a:ext cx="2921000" cy="660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22313F"/>
                </a:solidFill>
                <a:latin typeface="Segoe UI"/>
              </a:rPr>
              <a:t>Un scraper las trae todas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75500" y="3302000"/>
            <a:ext cx="3810000" cy="660400"/>
          </a:xfrm>
          <a:prstGeom prst="roundRect">
            <a:avLst>
              <a:gd name="adj" fmla="val 28846"/>
            </a:avLst>
          </a:prstGeom>
          <a:solidFill>
            <a:srgbClr val="EE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02500" y="3378200"/>
            <a:ext cx="508000" cy="508000"/>
          </a:xfrm>
          <a:prstGeom prst="ellipse">
            <a:avLst/>
          </a:prstGeom>
          <a:solidFill>
            <a:srgbClr val="FFB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02500" y="3378200"/>
            <a:ext cx="5080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0">
                <a:solidFill>
                  <a:srgbClr val="22313F"/>
                </a:solidFill>
                <a:latin typeface="Segoe UI Black"/>
              </a:rPr>
              <a:t>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69250" y="3302000"/>
            <a:ext cx="2921000" cy="660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22313F"/>
                </a:solidFill>
                <a:latin typeface="Segoe UI"/>
              </a:rPr>
              <a:t>pandas lee y limpia los Excel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75500" y="4127500"/>
            <a:ext cx="3810000" cy="660400"/>
          </a:xfrm>
          <a:prstGeom prst="roundRect">
            <a:avLst>
              <a:gd name="adj" fmla="val 28846"/>
            </a:avLst>
          </a:prstGeom>
          <a:solidFill>
            <a:srgbClr val="EE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02500" y="4203700"/>
            <a:ext cx="508000" cy="508000"/>
          </a:xfrm>
          <a:prstGeom prst="ellipse">
            <a:avLst/>
          </a:prstGeom>
          <a:solidFill>
            <a:srgbClr val="7DD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02500" y="4203700"/>
            <a:ext cx="5080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0">
                <a:solidFill>
                  <a:srgbClr val="22313F"/>
                </a:solidFill>
                <a:latin typeface="Segoe UI Black"/>
              </a:rPr>
              <a:t>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69250" y="4127500"/>
            <a:ext cx="2921000" cy="660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22313F"/>
                </a:solidFill>
                <a:latin typeface="Segoe UI"/>
              </a:rPr>
              <a:t>groupby calcula los indicadores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75500" y="4953000"/>
            <a:ext cx="3810000" cy="660400"/>
          </a:xfrm>
          <a:prstGeom prst="roundRect">
            <a:avLst>
              <a:gd name="adj" fmla="val 28846"/>
            </a:avLst>
          </a:prstGeom>
          <a:solidFill>
            <a:srgbClr val="EE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302500" y="5029200"/>
            <a:ext cx="508000" cy="508000"/>
          </a:xfrm>
          <a:prstGeom prst="ellipse">
            <a:avLst/>
          </a:prstGeom>
          <a:solidFill>
            <a:srgbClr val="B9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02500" y="5029200"/>
            <a:ext cx="5080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0">
                <a:solidFill>
                  <a:srgbClr val="22313F"/>
                </a:solidFill>
                <a:latin typeface="Segoe UI Black"/>
              </a:rPr>
              <a:t>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69250" y="4953000"/>
            <a:ext cx="2921000" cy="660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22313F"/>
                </a:solidFill>
                <a:latin typeface="Segoe UI"/>
              </a:rPr>
              <a:t>to_excel arma el reporte solo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810000" y="6096000"/>
            <a:ext cx="4572000" cy="400050"/>
          </a:xfrm>
          <a:prstGeom prst="roundRect">
            <a:avLst>
              <a:gd name="adj" fmla="val 50000"/>
            </a:avLst>
          </a:prstGeom>
          <a:solidFill>
            <a:srgbClr val="FFD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810000" y="6096000"/>
            <a:ext cx="457200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1">
                <a:solidFill>
                  <a:srgbClr val="22313F"/>
                </a:solidFill>
                <a:latin typeface="Segoe UI"/>
              </a:rPr>
              <a:t>⏳ 2 días por semana  →  ⚡ 20 segundos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25000" y="6464300"/>
            <a:ext cx="2286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9AA6B2"/>
                </a:solidFill>
                <a:latin typeface="Segoe UI"/>
              </a:rPr>
              <a:t>TalentScope · DataNexo   5/35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781800"/>
            <a:ext cx="1739900" cy="76200"/>
          </a:xfrm>
          <a:prstGeom prst="rect">
            <a:avLst/>
          </a:prstGeom>
          <a:gradFill rotWithShape="1">
            <a:gsLst>
              <a:gs pos="0">
                <a:srgbClr val="7DD3B0"/>
              </a:gs>
              <a:gs pos="100000">
                <a:srgbClr val="B9A6F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68000" y="-698500"/>
            <a:ext cx="2413000" cy="2413000"/>
          </a:xfrm>
          <a:prstGeom prst="ellipse">
            <a:avLst/>
          </a:prstGeom>
          <a:solidFill>
            <a:srgbClr val="B9A6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9000" y="762000"/>
            <a:ext cx="9525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6B54D6"/>
                </a:solidFill>
                <a:latin typeface="Cascadia Code"/>
              </a:rPr>
              <a:t>LO QUE PASÓ ANTES DE QUE LLEGARAN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9000" y="1111250"/>
            <a:ext cx="6477000" cy="523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0">
                <a:solidFill>
                  <a:srgbClr val="22313F"/>
                </a:solidFill>
                <a:latin typeface="Segoe UI Black"/>
              </a:rPr>
              <a:t>El equipo anterior se fue 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9000" y="1905000"/>
            <a:ext cx="6350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>
                <a:solidFill>
                  <a:srgbClr val="5D6B78"/>
                </a:solidFill>
                <a:latin typeface="Segoe UI"/>
              </a:rPr>
              <a:t>Hicieron un prototipo (Sprint 0) y los movieron a otro proyecto. </a:t>
            </a:r>
            <a:r>
              <a:rPr sz="1700" b="1">
                <a:solidFill>
                  <a:srgbClr val="22313F"/>
                </a:solidFill>
                <a:latin typeface="Segoe UI"/>
              </a:rPr>
              <a:t>No están disponibles para preguntas.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9000" y="2857500"/>
            <a:ext cx="1968500" cy="234950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7600" y="3073400"/>
            <a:ext cx="568960" cy="497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0">
                <a:solidFill>
                  <a:srgbClr val="22313F"/>
                </a:solidFill>
                <a:latin typeface="Segoe UI Emoji"/>
              </a:rPr>
              <a:t>🕷️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683000"/>
            <a:ext cx="1460500" cy="528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22313F"/>
                </a:solidFill>
                <a:latin typeface="Segoe UI Black"/>
              </a:rPr>
              <a:t>Un scraper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038600"/>
            <a:ext cx="1460500" cy="1079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5D6B78"/>
                </a:solidFill>
                <a:latin typeface="Segoe UI"/>
              </a:rPr>
              <a:t>que solo lee la página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16250" y="2857500"/>
            <a:ext cx="1968500" cy="234950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44850" y="3073400"/>
            <a:ext cx="568960" cy="497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0">
                <a:solidFill>
                  <a:srgbClr val="22313F"/>
                </a:solidFill>
                <a:latin typeface="Segoe UI Emoji"/>
              </a:rPr>
              <a:t>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70250" y="3683000"/>
            <a:ext cx="1460500" cy="528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22313F"/>
                </a:solidFill>
                <a:latin typeface="Segoe UI Black"/>
              </a:rPr>
              <a:t>Un lector de Excel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70250" y="4292600"/>
            <a:ext cx="1460500" cy="1079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5D6B78"/>
                </a:solidFill>
                <a:latin typeface="Segoe UI"/>
              </a:rPr>
              <a:t>de una sola universidad, y lee mal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43500" y="2857500"/>
            <a:ext cx="1968500" cy="234950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72100" y="3073400"/>
            <a:ext cx="568960" cy="497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0">
                <a:solidFill>
                  <a:srgbClr val="22313F"/>
                </a:solidFill>
                <a:latin typeface="Segoe UI Emoji"/>
              </a:rPr>
              <a:t>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7500" y="3683000"/>
            <a:ext cx="1460500" cy="528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22313F"/>
                </a:solidFill>
                <a:latin typeface="Segoe UI Black"/>
              </a:rPr>
              <a:t>Un reporte básico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7500" y="4292600"/>
            <a:ext cx="1460500" cy="1079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5D6B78"/>
                </a:solidFill>
                <a:latin typeface="Segoe UI"/>
              </a:rPr>
              <a:t>sin gráficos ni salarios</a:t>
            </a:r>
          </a:p>
        </p:txBody>
      </p:sp>
      <p:pic>
        <p:nvPicPr>
          <p:cNvPr id="18" name="Picture 17" descr="junior.jpg"/>
          <p:cNvPicPr>
            <a:picLocks noChangeAspect="1"/>
          </p:cNvPicPr>
          <p:nvPr/>
        </p:nvPicPr>
        <p:blipFill>
          <a:blip r:embed="rId3"/>
          <a:srcRect l="18506" r="18506"/>
          <a:stretch>
            <a:fillRect/>
          </a:stretch>
        </p:blipFill>
        <p:spPr>
          <a:xfrm>
            <a:off x="7493000" y="1143000"/>
            <a:ext cx="3810000" cy="4064000"/>
          </a:xfrm>
          <a:prstGeom prst="roundRect">
            <a:avLst>
              <a:gd name="adj" fmla="val 8000"/>
            </a:avLst>
          </a:prstGeom>
          <a:effectLst>
            <a:outerShdw blurRad="317500" dist="114300" dir="5400000" algn="t" rotWithShape="0">
              <a:srgbClr val="22313F">
                <a:alpha val="18000"/>
              </a:srgbClr>
            </a:outerShdw>
          </a:effectLst>
        </p:spPr>
      </p:pic>
      <p:sp>
        <p:nvSpPr>
          <p:cNvPr id="19" name="Rounded Rectangle 18"/>
          <p:cNvSpPr/>
          <p:nvPr/>
        </p:nvSpPr>
        <p:spPr>
          <a:xfrm>
            <a:off x="889000" y="5397500"/>
            <a:ext cx="10414000" cy="698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9000" y="5397500"/>
            <a:ext cx="10414000" cy="698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200" b="0">
                <a:solidFill>
                  <a:srgbClr val="6B54D6"/>
                </a:solidFill>
                <a:latin typeface="Segoe UI Black"/>
              </a:rPr>
              <a:t>“Funcionaba… en el PC de Andrés” 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25000" y="6464300"/>
            <a:ext cx="2286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9AA6B2"/>
                </a:solidFill>
                <a:latin typeface="Segoe UI"/>
              </a:rPr>
              <a:t>TalentScope · DataNexo   6/35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781800"/>
            <a:ext cx="2089150" cy="76200"/>
          </a:xfrm>
          <a:prstGeom prst="rect">
            <a:avLst/>
          </a:prstGeom>
          <a:gradFill rotWithShape="1">
            <a:gsLst>
              <a:gs pos="0">
                <a:srgbClr val="7DD3B0"/>
              </a:gs>
              <a:gs pos="100000">
                <a:srgbClr val="B9A6F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89000" y="698500"/>
            <a:ext cx="10414000" cy="603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0">
                <a:solidFill>
                  <a:srgbClr val="22313F"/>
                </a:solidFill>
                <a:latin typeface="Segoe UI Black"/>
              </a:rPr>
              <a:t>Y nos dejaron 4 bugs 🐛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9000" y="1714500"/>
            <a:ext cx="2476500" cy="381000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79500" y="1714500"/>
            <a:ext cx="2095500" cy="88900"/>
          </a:xfrm>
          <a:prstGeom prst="roundRect">
            <a:avLst>
              <a:gd name="adj" fmla="val 50000"/>
            </a:avLst>
          </a:prstGeom>
          <a:solidFill>
            <a:srgbClr val="FF8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7600" y="2000250"/>
            <a:ext cx="2095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C2453A"/>
                </a:solidFill>
                <a:latin typeface="Cascadia Code"/>
              </a:rPr>
              <a:t>BUG-01 · Squad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7600" y="2349500"/>
            <a:ext cx="2095500" cy="825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>
                <a:solidFill>
                  <a:srgbClr val="22313F"/>
                </a:solidFill>
                <a:latin typeface="Segoe UI Black"/>
              </a:rPr>
              <a:t>Las ciudades no cuadran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7600" y="3238500"/>
            <a:ext cx="2032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5D6B78"/>
                </a:solidFill>
                <a:latin typeface="Segoe UI"/>
              </a:rPr>
              <a:t>No reconoce “Bogotá D.C.” ni “MEDELLIN”.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17600" y="4826000"/>
            <a:ext cx="2019300" cy="406400"/>
          </a:xfrm>
          <a:prstGeom prst="roundRect">
            <a:avLst>
              <a:gd name="adj" fmla="val 25000"/>
            </a:avLst>
          </a:prstGeom>
          <a:solidFill>
            <a:srgbClr val="FF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06500" y="4826000"/>
            <a:ext cx="1905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B23B30"/>
                </a:solidFill>
                <a:latin typeface="Cascadia Code"/>
              </a:rPr>
              <a:t>normalizar_ciudad()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56000" y="1714500"/>
            <a:ext cx="2476500" cy="381000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746500" y="1714500"/>
            <a:ext cx="2095500" cy="88900"/>
          </a:xfrm>
          <a:prstGeom prst="roundRect">
            <a:avLst>
              <a:gd name="adj" fmla="val 50000"/>
            </a:avLst>
          </a:prstGeom>
          <a:solidFill>
            <a:srgbClr val="FF8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84600" y="2000250"/>
            <a:ext cx="2095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C2453A"/>
                </a:solidFill>
                <a:latin typeface="Cascadia Code"/>
              </a:rPr>
              <a:t>BUG-02 · Squad 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84600" y="2349500"/>
            <a:ext cx="2095500" cy="825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>
                <a:solidFill>
                  <a:srgbClr val="22313F"/>
                </a:solidFill>
                <a:latin typeface="Segoe UI Black"/>
              </a:rPr>
              <a:t>Encabezados perdidos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84600" y="3238500"/>
            <a:ext cx="2032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5D6B78"/>
                </a:solidFill>
                <a:latin typeface="Segoe UI"/>
              </a:rPr>
              <a:t>Los títulos están en la fila 4 y salen columnas raras.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84600" y="4826000"/>
            <a:ext cx="2019300" cy="406400"/>
          </a:xfrm>
          <a:prstGeom prst="roundRect">
            <a:avLst>
              <a:gd name="adj" fmla="val 25000"/>
            </a:avLst>
          </a:prstGeom>
          <a:solidFill>
            <a:srgbClr val="FF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73500" y="4826000"/>
            <a:ext cx="1905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B23B30"/>
                </a:solidFill>
                <a:latin typeface="Cascadia Code"/>
              </a:rPr>
              <a:t>Unnamed: 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23000" y="1714500"/>
            <a:ext cx="2476500" cy="381000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13500" y="1714500"/>
            <a:ext cx="2095500" cy="88900"/>
          </a:xfrm>
          <a:prstGeom prst="roundRect">
            <a:avLst>
              <a:gd name="adj" fmla="val 50000"/>
            </a:avLst>
          </a:prstGeom>
          <a:solidFill>
            <a:srgbClr val="FF8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51600" y="2000250"/>
            <a:ext cx="2095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C2453A"/>
                </a:solidFill>
                <a:latin typeface="Cascadia Code"/>
              </a:rPr>
              <a:t>BUG-03 · Squad 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1600" y="2349500"/>
            <a:ext cx="2095500" cy="825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>
                <a:solidFill>
                  <a:srgbClr val="22313F"/>
                </a:solidFill>
                <a:latin typeface="Segoe UI Black"/>
              </a:rPr>
              <a:t>Ruta de otro PC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51600" y="3238500"/>
            <a:ext cx="2032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5D6B78"/>
                </a:solidFill>
                <a:latin typeface="Segoe UI"/>
              </a:rPr>
              <a:t>Lee un archivo del escritorio de Andrés y separa mal las skills.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51600" y="4826000"/>
            <a:ext cx="2019300" cy="406400"/>
          </a:xfrm>
          <a:prstGeom prst="roundRect">
            <a:avLst>
              <a:gd name="adj" fmla="val 25000"/>
            </a:avLst>
          </a:prstGeom>
          <a:solidFill>
            <a:srgbClr val="FF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40500" y="4826000"/>
            <a:ext cx="1905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B23B30"/>
                </a:solidFill>
                <a:latin typeface="Cascadia Code"/>
              </a:rPr>
              <a:t>C:/Users/andres.dev/…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90000" y="1714500"/>
            <a:ext cx="2476500" cy="381000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080500" y="1714500"/>
            <a:ext cx="2095500" cy="88900"/>
          </a:xfrm>
          <a:prstGeom prst="roundRect">
            <a:avLst>
              <a:gd name="adj" fmla="val 50000"/>
            </a:avLst>
          </a:prstGeom>
          <a:solidFill>
            <a:srgbClr val="FF8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18600" y="2000250"/>
            <a:ext cx="2095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C2453A"/>
                </a:solidFill>
                <a:latin typeface="Cascadia Code"/>
              </a:rPr>
              <a:t>BUG-04 · Squad 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18600" y="2349500"/>
            <a:ext cx="2095500" cy="825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>
                <a:solidFill>
                  <a:srgbClr val="22313F"/>
                </a:solidFill>
                <a:latin typeface="Segoe UI Black"/>
              </a:rPr>
              <a:t>Se cuelga y daña tildes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18600" y="3238500"/>
            <a:ext cx="2032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5D6B78"/>
                </a:solidFill>
                <a:latin typeface="Segoe UI"/>
              </a:rPr>
              <a:t>No tiene timeout y las tildes salen raras.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18600" y="4826000"/>
            <a:ext cx="2019300" cy="406400"/>
          </a:xfrm>
          <a:prstGeom prst="roundRect">
            <a:avLst>
              <a:gd name="adj" fmla="val 25000"/>
            </a:avLst>
          </a:prstGeom>
          <a:solidFill>
            <a:srgbClr val="FF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07500" y="4826000"/>
            <a:ext cx="1905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B23B30"/>
                </a:solidFill>
                <a:latin typeface="Cascadia Code"/>
              </a:rPr>
              <a:t>LogÃ­stica 360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9000" y="5746750"/>
            <a:ext cx="10414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0">
                <a:solidFill>
                  <a:srgbClr val="5D6B78"/>
                </a:solidFill>
                <a:latin typeface="Segoe UI"/>
              </a:rPr>
              <a:t>Leer código ajeno y arreglarlo es </a:t>
            </a:r>
            <a:r>
              <a:rPr sz="1600" b="1">
                <a:solidFill>
                  <a:srgbClr val="22313F"/>
                </a:solidFill>
                <a:latin typeface="Segoe UI"/>
              </a:rPr>
              <a:t>lo primero que hace un junior en una empresa.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25000" y="6464300"/>
            <a:ext cx="2286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9AA6B2"/>
                </a:solidFill>
                <a:latin typeface="Segoe UI"/>
              </a:rPr>
              <a:t>TalentScope · DataNexo   7/35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781800"/>
            <a:ext cx="2438400" cy="76200"/>
          </a:xfrm>
          <a:prstGeom prst="rect">
            <a:avLst/>
          </a:prstGeom>
          <a:gradFill rotWithShape="1">
            <a:gsLst>
              <a:gs pos="0">
                <a:srgbClr val="7DD3B0"/>
              </a:gs>
              <a:gs pos="100000">
                <a:srgbClr val="B9A6F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89000" y="698500"/>
            <a:ext cx="10414000" cy="603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0">
                <a:solidFill>
                  <a:srgbClr val="22313F"/>
                </a:solidFill>
                <a:latin typeface="Segoe UI Black"/>
              </a:rPr>
              <a:t>¿Cómo sabemos que está roto? 🔎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9000" y="1714500"/>
            <a:ext cx="6350000" cy="3556000"/>
          </a:xfrm>
          <a:prstGeom prst="roundRect">
            <a:avLst>
              <a:gd name="adj" fmla="val 7142"/>
            </a:avLst>
          </a:prstGeom>
          <a:solidFill>
            <a:srgbClr val="1D2A38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70000" y="2032000"/>
            <a:ext cx="571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>
                <a:solidFill>
                  <a:srgbClr val="D7E3EE"/>
                </a:solidFill>
                <a:latin typeface="Cascadia Code"/>
              </a:rPr>
              <a:t>$ pytest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70000" y="2489200"/>
            <a:ext cx="571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>
                <a:solidFill>
                  <a:srgbClr val="FF8A80"/>
                </a:solidFill>
                <a:latin typeface="Cascadia Code"/>
              </a:rPr>
              <a:t>FAILED test_normalizar_ciudad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70000" y="2946400"/>
            <a:ext cx="571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>
                <a:solidFill>
                  <a:srgbClr val="FF8A80"/>
                </a:solidFill>
                <a:latin typeface="Cascadia Code"/>
              </a:rPr>
              <a:t>FAILED test_lector_encuestas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70000" y="3403600"/>
            <a:ext cx="571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>
                <a:solidFill>
                  <a:srgbClr val="FF8A80"/>
                </a:solidFill>
                <a:latin typeface="Cascadia Code"/>
              </a:rPr>
              <a:t>FAILED test_reporte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70000" y="3860800"/>
            <a:ext cx="571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>
                <a:solidFill>
                  <a:srgbClr val="FF8A80"/>
                </a:solidFill>
                <a:latin typeface="Cascadia Code"/>
              </a:rPr>
              <a:t>FAILED test_scraper 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70000" y="4445000"/>
            <a:ext cx="5715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FFD86B"/>
                </a:solidFill>
                <a:latin typeface="Cascadia Code"/>
              </a:rPr>
              <a:t>14 failed, 5 passed</a:t>
            </a:r>
          </a:p>
        </p:txBody>
      </p:sp>
      <p:pic>
        <p:nvPicPr>
          <p:cNvPr id="10" name="Picture 9" descr="codigo.jpg"/>
          <p:cNvPicPr>
            <a:picLocks noChangeAspect="1"/>
          </p:cNvPicPr>
          <p:nvPr/>
        </p:nvPicPr>
        <p:blipFill>
          <a:blip r:embed="rId3"/>
          <a:srcRect l="11161" r="11161"/>
          <a:stretch>
            <a:fillRect/>
          </a:stretch>
        </p:blipFill>
        <p:spPr>
          <a:xfrm>
            <a:off x="7620000" y="1714500"/>
            <a:ext cx="3683000" cy="3556000"/>
          </a:xfrm>
          <a:prstGeom prst="roundRect">
            <a:avLst>
              <a:gd name="adj" fmla="val 8571"/>
            </a:avLst>
          </a:prstGeom>
          <a:effectLst>
            <a:outerShdw blurRad="317500" dist="114300" dir="5400000" algn="t" rotWithShape="0">
              <a:srgbClr val="22313F">
                <a:alpha val="18000"/>
              </a:srgbClr>
            </a:outerShdw>
          </a:effectLst>
        </p:spPr>
      </p:pic>
      <p:sp>
        <p:nvSpPr>
          <p:cNvPr id="11" name="Rounded Rectangle 10"/>
          <p:cNvSpPr/>
          <p:nvPr/>
        </p:nvSpPr>
        <p:spPr>
          <a:xfrm>
            <a:off x="889000" y="5524500"/>
            <a:ext cx="10414000" cy="698500"/>
          </a:xfrm>
          <a:prstGeom prst="roundRect">
            <a:avLst>
              <a:gd name="adj" fmla="val 50000"/>
            </a:avLst>
          </a:prstGeom>
          <a:solidFill>
            <a:srgbClr val="EE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9000" y="5524500"/>
            <a:ext cx="10414000" cy="698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300" b="0">
                <a:solidFill>
                  <a:srgbClr val="2E8B6A"/>
                </a:solidFill>
                <a:latin typeface="Segoe UI Black"/>
              </a:rPr>
              <a:t>Misión del Sprint 1: dejarlos todos en verde 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25000" y="6464300"/>
            <a:ext cx="2286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9AA6B2"/>
                </a:solidFill>
                <a:latin typeface="Segoe UI"/>
              </a:rPr>
              <a:t>TalentScope · DataNexo   8/35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781800"/>
            <a:ext cx="2781300" cy="76200"/>
          </a:xfrm>
          <a:prstGeom prst="rect">
            <a:avLst/>
          </a:prstGeom>
          <a:gradFill rotWithShape="1">
            <a:gsLst>
              <a:gs pos="0">
                <a:srgbClr val="7DD3B0"/>
              </a:gs>
              <a:gs pos="100000">
                <a:srgbClr val="B9A6F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571500" y="-571500"/>
            <a:ext cx="2032000" cy="2032000"/>
          </a:xfrm>
          <a:prstGeom prst="ellipse">
            <a:avLst/>
          </a:prstGeom>
          <a:solidFill>
            <a:srgbClr val="7DD3B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9000" y="698500"/>
            <a:ext cx="10414000" cy="603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0">
                <a:solidFill>
                  <a:srgbClr val="22313F"/>
                </a:solidFill>
                <a:latin typeface="Segoe UI Black"/>
              </a:rPr>
              <a:t>Lo que falta construir 🛠️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89000" y="1841500"/>
            <a:ext cx="2349500" cy="3556000"/>
          </a:xfrm>
          <a:prstGeom prst="roundRect">
            <a:avLst>
              <a:gd name="adj" fmla="val 10810"/>
            </a:avLst>
          </a:prstGeom>
          <a:solidFill>
            <a:srgbClr val="FFD86B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7600" y="2032000"/>
            <a:ext cx="711200" cy="622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500" b="0">
                <a:solidFill>
                  <a:srgbClr val="22313F"/>
                </a:solidFill>
                <a:latin typeface="Segoe UI Emoji"/>
              </a:rPr>
              <a:t>🕷️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984500"/>
            <a:ext cx="1905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0">
                <a:solidFill>
                  <a:srgbClr val="22313F"/>
                </a:solidFill>
                <a:latin typeface="Segoe UI Black"/>
              </a:rPr>
              <a:t>Traer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556000"/>
            <a:ext cx="1905000" cy="171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22313F"/>
                </a:solidFill>
                <a:latin typeface="Segoe UI"/>
              </a:rPr>
              <a:t>Todas las páginas, el detalle de cada oferta, salarios y fechas.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25800" y="3302000"/>
            <a:ext cx="444500" cy="4089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300" b="0">
                <a:solidFill>
                  <a:srgbClr val="22313F"/>
                </a:solidFill>
                <a:latin typeface="Segoe UI Emoji"/>
              </a:rPr>
              <a:t>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9500" y="1841500"/>
            <a:ext cx="2349500" cy="3556000"/>
          </a:xfrm>
          <a:prstGeom prst="roundRect">
            <a:avLst>
              <a:gd name="adj" fmla="val 10810"/>
            </a:avLst>
          </a:prstGeom>
          <a:solidFill>
            <a:srgbClr val="FFB38A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8100" y="2032000"/>
            <a:ext cx="711200" cy="622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500" b="0">
                <a:solidFill>
                  <a:srgbClr val="22313F"/>
                </a:solidFill>
                <a:latin typeface="Segoe UI Emoji"/>
              </a:rPr>
              <a:t>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73500" y="2984500"/>
            <a:ext cx="1905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0">
                <a:solidFill>
                  <a:srgbClr val="22313F"/>
                </a:solidFill>
                <a:latin typeface="Segoe UI Black"/>
              </a:rPr>
              <a:t>Limpiar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73500" y="3556000"/>
            <a:ext cx="1905000" cy="171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22313F"/>
                </a:solidFill>
                <a:latin typeface="Segoe UI"/>
              </a:rPr>
              <a:t>Leer cada Excel, arreglarlo y guardar lo que se rechaza.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56300" y="3302000"/>
            <a:ext cx="444500" cy="4089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300" b="0">
                <a:solidFill>
                  <a:srgbClr val="22313F"/>
                </a:solidFill>
                <a:latin typeface="Segoe UI Emoji"/>
              </a:rPr>
              <a:t>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0000" y="1841500"/>
            <a:ext cx="2349500" cy="3556000"/>
          </a:xfrm>
          <a:prstGeom prst="roundRect">
            <a:avLst>
              <a:gd name="adj" fmla="val 10810"/>
            </a:avLst>
          </a:prstGeom>
          <a:solidFill>
            <a:srgbClr val="7DD3B0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78600" y="2032000"/>
            <a:ext cx="711200" cy="622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500" b="0">
                <a:solidFill>
                  <a:srgbClr val="22313F"/>
                </a:solidFill>
                <a:latin typeface="Segoe UI Emoji"/>
              </a:rPr>
              <a:t>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04000" y="2984500"/>
            <a:ext cx="1905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0">
                <a:solidFill>
                  <a:srgbClr val="22313F"/>
                </a:solidFill>
                <a:latin typeface="Segoe UI Black"/>
              </a:rPr>
              <a:t>Analizar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04000" y="3556000"/>
            <a:ext cx="1905000" cy="171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22313F"/>
                </a:solidFill>
                <a:latin typeface="Segoe UI"/>
              </a:rPr>
              <a:t>Skills, salarios, ciudades y la brecha de cada programa.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3302000"/>
            <a:ext cx="444500" cy="4089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300" b="0">
                <a:solidFill>
                  <a:srgbClr val="22313F"/>
                </a:solidFill>
                <a:latin typeface="Segoe UI Emoji"/>
              </a:rPr>
              <a:t>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80500" y="1841500"/>
            <a:ext cx="2349500" cy="3556000"/>
          </a:xfrm>
          <a:prstGeom prst="roundRect">
            <a:avLst>
              <a:gd name="adj" fmla="val 10810"/>
            </a:avLst>
          </a:prstGeom>
          <a:solidFill>
            <a:srgbClr val="B9A6FF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09100" y="2032000"/>
            <a:ext cx="711200" cy="622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500" b="0">
                <a:solidFill>
                  <a:srgbClr val="22313F"/>
                </a:solidFill>
                <a:latin typeface="Segoe UI Emoji"/>
              </a:rPr>
              <a:t>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34500" y="2984500"/>
            <a:ext cx="1905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0">
                <a:solidFill>
                  <a:srgbClr val="22313F"/>
                </a:solidFill>
                <a:latin typeface="Segoe UI Black"/>
              </a:rPr>
              <a:t>Reportar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34500" y="3556000"/>
            <a:ext cx="1905000" cy="171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22313F"/>
                </a:solidFill>
                <a:latin typeface="Segoe UI"/>
              </a:rPr>
              <a:t>Excel con to_excel, gráficos, HTML, y que todo corra solo.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9000" y="5715000"/>
            <a:ext cx="10414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700" b="1">
                <a:solidFill>
                  <a:srgbClr val="22313F"/>
                </a:solidFill>
                <a:latin typeface="Segoe UI"/>
              </a:rPr>
              <a:t>Hoy los 4 arrancan en paralelo. </a:t>
            </a:r>
            <a:r>
              <a:rPr sz="1700" b="0">
                <a:solidFill>
                  <a:srgbClr val="5D6B78"/>
                </a:solidFill>
                <a:latin typeface="Segoe UI"/>
              </a:rPr>
              <a:t>Desde el Sprint 2, cada squad recibe lo que entrega el anterior.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25000" y="6464300"/>
            <a:ext cx="2286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9AA6B2"/>
                </a:solidFill>
                <a:latin typeface="Segoe UI"/>
              </a:rPr>
              <a:t>TalentScope · DataNexo   9/35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781800"/>
            <a:ext cx="3130550" cy="76200"/>
          </a:xfrm>
          <a:prstGeom prst="rect">
            <a:avLst/>
          </a:prstGeom>
          <a:gradFill rotWithShape="1">
            <a:gsLst>
              <a:gs pos="0">
                <a:srgbClr val="7DD3B0"/>
              </a:gs>
              <a:gs pos="100000">
                <a:srgbClr val="B9A6F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89000" y="635000"/>
            <a:ext cx="10414000" cy="603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0">
                <a:solidFill>
                  <a:srgbClr val="22313F"/>
                </a:solidFill>
                <a:latin typeface="Segoe UI Black"/>
              </a:rPr>
              <a:t>¿Todos arrancan hoy? ¡Sí! 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000" y="1301750"/>
            <a:ext cx="10414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>
                <a:solidFill>
                  <a:srgbClr val="5D6B78"/>
                </a:solidFill>
                <a:latin typeface="Segoe UI"/>
              </a:rPr>
              <a:t>Los 4 squads trabajan en paralelo desde el primer día. Nadie espera a nadie.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02000" y="1841500"/>
            <a:ext cx="3556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5D6B78"/>
                </a:solidFill>
                <a:latin typeface="Segoe UI Black"/>
              </a:rPr>
              <a:t>Sprint 1 · trabaja con…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85000" y="1841500"/>
            <a:ext cx="4318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5D6B78"/>
                </a:solidFill>
                <a:latin typeface="Segoe UI Black"/>
              </a:rPr>
              <a:t>Desde el Sprint 2 · recibe de…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9000" y="2190750"/>
            <a:ext cx="10414000" cy="666750"/>
          </a:xfrm>
          <a:prstGeom prst="roundRect">
            <a:avLst>
              <a:gd name="adj" fmla="val 32380"/>
            </a:avLst>
          </a:prstGeom>
          <a:solidFill>
            <a:srgbClr val="FFFFFF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16000" y="2286000"/>
            <a:ext cx="476250" cy="476250"/>
          </a:xfrm>
          <a:prstGeom prst="ellipse">
            <a:avLst/>
          </a:prstGeom>
          <a:solidFill>
            <a:srgbClr val="FFD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6000" y="2286000"/>
            <a:ext cx="4762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0">
                <a:solidFill>
                  <a:srgbClr val="22313F"/>
                </a:solidFill>
                <a:latin typeface="Segoe UI Black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19250" y="2190750"/>
            <a:ext cx="158750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22313F"/>
                </a:solidFill>
                <a:latin typeface="Segoe UI Black"/>
              </a:rPr>
              <a:t>Scraping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02000" y="2286000"/>
            <a:ext cx="3492500" cy="476250"/>
          </a:xfrm>
          <a:prstGeom prst="roundRect">
            <a:avLst>
              <a:gd name="adj" fmla="val 37333"/>
            </a:avLst>
          </a:prstGeom>
          <a:solidFill>
            <a:srgbClr val="EE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60750" y="2286000"/>
            <a:ext cx="330200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22313F"/>
                </a:solidFill>
                <a:latin typeface="Segoe UI"/>
              </a:rPr>
              <a:t>🌐 El portal simulado (portal_mock)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85000" y="2286000"/>
            <a:ext cx="4191000" cy="476250"/>
          </a:xfrm>
          <a:prstGeom prst="roundRect">
            <a:avLst>
              <a:gd name="adj" fmla="val 37333"/>
            </a:avLst>
          </a:prstGeom>
          <a:solidFill>
            <a:srgbClr val="F3EA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43750" y="2286000"/>
            <a:ext cx="393700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5D6B78"/>
                </a:solidFill>
                <a:latin typeface="Segoe UI"/>
              </a:rPr>
              <a:t>Nadie: es la primera fuente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9000" y="2984500"/>
            <a:ext cx="10414000" cy="666750"/>
          </a:xfrm>
          <a:prstGeom prst="roundRect">
            <a:avLst>
              <a:gd name="adj" fmla="val 32380"/>
            </a:avLst>
          </a:prstGeom>
          <a:solidFill>
            <a:srgbClr val="FFFFFF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16000" y="3079750"/>
            <a:ext cx="476250" cy="476250"/>
          </a:xfrm>
          <a:prstGeom prst="ellipse">
            <a:avLst/>
          </a:prstGeom>
          <a:solidFill>
            <a:srgbClr val="FFB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16000" y="3079750"/>
            <a:ext cx="4762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0">
                <a:solidFill>
                  <a:srgbClr val="22313F"/>
                </a:solidFill>
                <a:latin typeface="Segoe UI Black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19250" y="2984500"/>
            <a:ext cx="158750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22313F"/>
                </a:solidFill>
                <a:latin typeface="Segoe UI Black"/>
              </a:rPr>
              <a:t>Excel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02000" y="3079750"/>
            <a:ext cx="3492500" cy="476250"/>
          </a:xfrm>
          <a:prstGeom prst="roundRect">
            <a:avLst>
              <a:gd name="adj" fmla="val 37333"/>
            </a:avLst>
          </a:prstGeom>
          <a:solidFill>
            <a:srgbClr val="EE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60750" y="3079750"/>
            <a:ext cx="330200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22313F"/>
                </a:solidFill>
                <a:latin typeface="Segoe UI"/>
              </a:rPr>
              <a:t>📄 Los Excel sucios (data/raw/excel)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85000" y="3079750"/>
            <a:ext cx="4191000" cy="476250"/>
          </a:xfrm>
          <a:prstGeom prst="roundRect">
            <a:avLst>
              <a:gd name="adj" fmla="val 37333"/>
            </a:avLst>
          </a:prstGeom>
          <a:solidFill>
            <a:srgbClr val="F3EA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43750" y="3079750"/>
            <a:ext cx="393700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5D6B78"/>
                </a:solidFill>
                <a:latin typeface="Segoe UI"/>
              </a:rPr>
              <a:t>Nadie: es la otra fuente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9000" y="3778250"/>
            <a:ext cx="10414000" cy="666750"/>
          </a:xfrm>
          <a:prstGeom prst="roundRect">
            <a:avLst>
              <a:gd name="adj" fmla="val 32380"/>
            </a:avLst>
          </a:prstGeom>
          <a:solidFill>
            <a:srgbClr val="FFFFFF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16000" y="3873500"/>
            <a:ext cx="476250" cy="476250"/>
          </a:xfrm>
          <a:prstGeom prst="ellipse">
            <a:avLst/>
          </a:prstGeom>
          <a:solidFill>
            <a:srgbClr val="7DD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16000" y="3873500"/>
            <a:ext cx="4762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0">
                <a:solidFill>
                  <a:srgbClr val="22313F"/>
                </a:solidFill>
                <a:latin typeface="Segoe UI Black"/>
              </a:rPr>
              <a:t>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19250" y="3778250"/>
            <a:ext cx="158750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22313F"/>
                </a:solidFill>
                <a:latin typeface="Segoe UI Black"/>
              </a:rPr>
              <a:t>Análisis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02000" y="3873500"/>
            <a:ext cx="3492500" cy="476250"/>
          </a:xfrm>
          <a:prstGeom prst="roundRect">
            <a:avLst>
              <a:gd name="adj" fmla="val 37333"/>
            </a:avLst>
          </a:prstGeom>
          <a:solidFill>
            <a:srgbClr val="EE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60750" y="3873500"/>
            <a:ext cx="330200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22313F"/>
                </a:solidFill>
                <a:latin typeface="Segoe UI"/>
              </a:rPr>
              <a:t>🧪 Datos de ejemplo (data/sample)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85000" y="3873500"/>
            <a:ext cx="4191000" cy="476250"/>
          </a:xfrm>
          <a:prstGeom prst="roundRect">
            <a:avLst>
              <a:gd name="adj" fmla="val 37333"/>
            </a:avLst>
          </a:prstGeom>
          <a:solidFill>
            <a:srgbClr val="F4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43750" y="3873500"/>
            <a:ext cx="393700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22313F"/>
                </a:solidFill>
                <a:latin typeface="Segoe UI"/>
              </a:rPr>
              <a:t>Ofertas de A y Excel limpios de B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89000" y="4572000"/>
            <a:ext cx="10414000" cy="666750"/>
          </a:xfrm>
          <a:prstGeom prst="roundRect">
            <a:avLst>
              <a:gd name="adj" fmla="val 32380"/>
            </a:avLst>
          </a:prstGeom>
          <a:solidFill>
            <a:srgbClr val="FFFFFF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16000" y="4667250"/>
            <a:ext cx="476250" cy="476250"/>
          </a:xfrm>
          <a:prstGeom prst="ellipse">
            <a:avLst/>
          </a:prstGeom>
          <a:solidFill>
            <a:srgbClr val="B9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16000" y="4667250"/>
            <a:ext cx="4762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0">
                <a:solidFill>
                  <a:srgbClr val="22313F"/>
                </a:solidFill>
                <a:latin typeface="Segoe UI Black"/>
              </a:rPr>
              <a:t>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19250" y="4572000"/>
            <a:ext cx="158750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22313F"/>
                </a:solidFill>
                <a:latin typeface="Segoe UI Black"/>
              </a:rPr>
              <a:t>Reportes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02000" y="4667250"/>
            <a:ext cx="3492500" cy="476250"/>
          </a:xfrm>
          <a:prstGeom prst="roundRect">
            <a:avLst>
              <a:gd name="adj" fmla="val 37333"/>
            </a:avLst>
          </a:prstGeom>
          <a:solidFill>
            <a:srgbClr val="EE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60750" y="4667250"/>
            <a:ext cx="330200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22313F"/>
                </a:solidFill>
                <a:latin typeface="Segoe UI"/>
              </a:rPr>
              <a:t>🧪 Datos de ejemplo (data/sample)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985000" y="4667250"/>
            <a:ext cx="4191000" cy="476250"/>
          </a:xfrm>
          <a:prstGeom prst="roundRect">
            <a:avLst>
              <a:gd name="adj" fmla="val 37333"/>
            </a:avLst>
          </a:prstGeom>
          <a:solidFill>
            <a:srgbClr val="F4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43750" y="4667250"/>
            <a:ext cx="393700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22313F"/>
                </a:solidFill>
                <a:latin typeface="Segoe UI"/>
              </a:rPr>
              <a:t>Indicadores de C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89000" y="5461000"/>
            <a:ext cx="10414000" cy="952500"/>
          </a:xfrm>
          <a:prstGeom prst="roundRect">
            <a:avLst>
              <a:gd name="adj" fmla="val 32000"/>
            </a:avLst>
          </a:prstGeom>
          <a:solidFill>
            <a:srgbClr val="1D2A38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74750" y="5619750"/>
            <a:ext cx="812800" cy="711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0">
                <a:solidFill>
                  <a:srgbClr val="22313F"/>
                </a:solidFill>
                <a:latin typeface="Segoe UI Emoji"/>
              </a:rPr>
              <a:t>🤝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159000" y="5461000"/>
            <a:ext cx="8890000" cy="952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>
                <a:solidFill>
                  <a:srgbClr val="FFD86B"/>
                </a:solidFill>
                <a:latin typeface="Segoe UI"/>
              </a:rPr>
              <a:t>¿Por qué funciona? </a:t>
            </a:r>
            <a:r>
              <a:rPr sz="1450" b="0">
                <a:solidFill>
                  <a:srgbClr val="FFF8EE"/>
                </a:solidFill>
                <a:latin typeface="Segoe UI"/>
              </a:rPr>
              <a:t>Los datos de ejemplo ya tienen las mismas columnas que entregarán A y B (el contrato de datos). En el Sprint 4 se une todo de punta a punta.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25000" y="6464300"/>
            <a:ext cx="2286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9AA6B2"/>
                </a:solidFill>
                <a:latin typeface="Segoe UI"/>
              </a:rPr>
              <a:t>TalentScope · DataNexo   10/35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781800"/>
            <a:ext cx="3479800" cy="76200"/>
          </a:xfrm>
          <a:prstGeom prst="rect">
            <a:avLst/>
          </a:prstGeom>
          <a:gradFill rotWithShape="1">
            <a:gsLst>
              <a:gs pos="0">
                <a:srgbClr val="7DD3B0"/>
              </a:gs>
              <a:gs pos="100000">
                <a:srgbClr val="B9A6F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D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89000" y="571500"/>
            <a:ext cx="825500" cy="825500"/>
          </a:xfrm>
          <a:prstGeom prst="roundRect">
            <a:avLst>
              <a:gd name="adj" fmla="val 27692"/>
            </a:avLst>
          </a:prstGeom>
          <a:solidFill>
            <a:srgbClr val="FFD86B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9000" y="571500"/>
            <a:ext cx="8255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4800" b="0">
                <a:solidFill>
                  <a:srgbClr val="22313F"/>
                </a:solidFill>
                <a:latin typeface="Segoe UI Black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36750" y="635000"/>
            <a:ext cx="9525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22313F"/>
                </a:solidFill>
                <a:latin typeface="Cascadia Code"/>
              </a:rPr>
              <a:t>SQUAD A · SCRAPING 🕷️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36750" y="889000"/>
            <a:ext cx="9398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22313F"/>
                </a:solidFill>
                <a:latin typeface="Segoe UI Black"/>
              </a:rPr>
              <a:t>Traer todas las ofertas del portal, solas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9000" y="1841500"/>
            <a:ext cx="6350000" cy="1270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11250" y="2095500"/>
            <a:ext cx="762000" cy="762000"/>
          </a:xfrm>
          <a:prstGeom prst="ellipse">
            <a:avLst/>
          </a:prstGeom>
          <a:solidFill>
            <a:srgbClr val="FFD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1250" y="2095500"/>
            <a:ext cx="76200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800" b="0">
                <a:solidFill>
                  <a:srgbClr val="22313F"/>
                </a:solidFill>
                <a:latin typeface="Segoe UI Emoji"/>
              </a:rPr>
              <a:t>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95500" y="2019300"/>
            <a:ext cx="49530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2313F"/>
                </a:solidFill>
                <a:latin typeface="Segoe UI Black"/>
              </a:rPr>
              <a:t>Recibe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95500" y="2362200"/>
            <a:ext cx="49530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5D6B78"/>
                </a:solidFill>
                <a:latin typeface="Segoe UI"/>
              </a:rPr>
              <a:t>El portal EmpleosTech: 118 ofertas en 6 páginas (carpeta portal_mock).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73500" y="3086100"/>
            <a:ext cx="381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5D6B78"/>
                </a:solidFill>
                <a:latin typeface="Segoe UI"/>
              </a:rPr>
              <a:t>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9000" y="3270250"/>
            <a:ext cx="6350000" cy="1270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11250" y="3524250"/>
            <a:ext cx="762000" cy="762000"/>
          </a:xfrm>
          <a:prstGeom prst="ellipse">
            <a:avLst/>
          </a:prstGeom>
          <a:solidFill>
            <a:srgbClr val="FFD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1250" y="3524250"/>
            <a:ext cx="76200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800" b="0">
                <a:solidFill>
                  <a:srgbClr val="22313F"/>
                </a:solidFill>
                <a:latin typeface="Segoe UI Emoji"/>
              </a:rPr>
              <a:t>⚙️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95500" y="3448050"/>
            <a:ext cx="49530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2313F"/>
                </a:solidFill>
                <a:latin typeface="Segoe UI Black"/>
              </a:rPr>
              <a:t>Hace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95500" y="3790950"/>
            <a:ext cx="49530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5D6B78"/>
                </a:solidFill>
                <a:latin typeface="Segoe UI"/>
              </a:rPr>
              <a:t>Recorre todas las páginas, entra a cada oferta, convierte salarios y fechas en datos útiles, sin saturar el portal.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73500" y="4514850"/>
            <a:ext cx="381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5D6B78"/>
                </a:solidFill>
                <a:latin typeface="Segoe UI"/>
              </a:rPr>
              <a:t>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9000" y="4699000"/>
            <a:ext cx="6350000" cy="1270000"/>
          </a:xfrm>
          <a:prstGeom prst="roundRect">
            <a:avLst>
              <a:gd name="adj" fmla="val 20000"/>
            </a:avLst>
          </a:prstGeom>
          <a:solidFill>
            <a:srgbClr val="1D2A38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11250" y="4953000"/>
            <a:ext cx="762000" cy="762000"/>
          </a:xfrm>
          <a:prstGeom prst="ellipse">
            <a:avLst/>
          </a:prstGeom>
          <a:solidFill>
            <a:srgbClr val="FFD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11250" y="4953000"/>
            <a:ext cx="76200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800" b="0">
                <a:solidFill>
                  <a:srgbClr val="22313F"/>
                </a:solidFill>
                <a:latin typeface="Segoe UI Emoji"/>
              </a:rPr>
              <a:t>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95500" y="4876800"/>
            <a:ext cx="49530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7DD3B0"/>
                </a:solidFill>
                <a:latin typeface="Segoe UI Black"/>
              </a:rPr>
              <a:t>Entrega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95500" y="5219700"/>
            <a:ext cx="49530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D7E3EE"/>
                </a:solidFill>
                <a:latin typeface="Segoe UI"/>
              </a:rPr>
              <a:t>ofertas.csv y ofertas.xlsx en data/processed → los usa el Squad C.</a:t>
            </a:r>
          </a:p>
        </p:txBody>
      </p:sp>
      <p:pic>
        <p:nvPicPr>
          <p:cNvPr id="23" name="Picture 22" descr="editor.jpg"/>
          <p:cNvPicPr>
            <a:picLocks noChangeAspect="1"/>
          </p:cNvPicPr>
          <p:nvPr/>
        </p:nvPicPr>
        <p:blipFill>
          <a:blip r:embed="rId3"/>
          <a:srcRect t="7160" b="7160"/>
          <a:stretch>
            <a:fillRect/>
          </a:stretch>
        </p:blipFill>
        <p:spPr>
          <a:xfrm>
            <a:off x="7620000" y="1841500"/>
            <a:ext cx="3683000" cy="2095500"/>
          </a:xfrm>
          <a:prstGeom prst="roundRect">
            <a:avLst>
              <a:gd name="adj" fmla="val 14545"/>
            </a:avLst>
          </a:prstGeom>
          <a:effectLst>
            <a:outerShdw blurRad="317500" dist="114300" dir="5400000" algn="t" rotWithShape="0">
              <a:srgbClr val="22313F">
                <a:alpha val="18000"/>
              </a:srgbClr>
            </a:outerShdw>
          </a:effectLst>
        </p:spPr>
      </p:pic>
      <p:sp>
        <p:nvSpPr>
          <p:cNvPr id="24" name="Rounded Rectangle 23"/>
          <p:cNvSpPr/>
          <p:nvPr/>
        </p:nvSpPr>
        <p:spPr>
          <a:xfrm>
            <a:off x="7620000" y="4127500"/>
            <a:ext cx="3683000" cy="889000"/>
          </a:xfrm>
          <a:prstGeom prst="roundRect">
            <a:avLst>
              <a:gd name="adj" fmla="val 25714"/>
            </a:avLst>
          </a:prstGeom>
          <a:solidFill>
            <a:srgbClr val="FFFFFF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42250" y="4241800"/>
            <a:ext cx="330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>
                <a:solidFill>
                  <a:srgbClr val="22313F"/>
                </a:solidFill>
                <a:latin typeface="Segoe UI Black"/>
              </a:rPr>
              <a:t>🧰 Herramientas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42250" y="4540250"/>
            <a:ext cx="3302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5D6B78"/>
                </a:solidFill>
                <a:latin typeface="Cascadia Code"/>
              </a:rPr>
              <a:t>requests · BeautifulSoup · urljoin · urllib.robotparser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20000" y="5175250"/>
            <a:ext cx="3683000" cy="952500"/>
          </a:xfrm>
          <a:prstGeom prst="roundRect">
            <a:avLst>
              <a:gd name="adj" fmla="val 24000"/>
            </a:avLst>
          </a:prstGeom>
          <a:solidFill>
            <a:srgbClr val="EEF8F3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42250" y="5283200"/>
            <a:ext cx="330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>
                <a:solidFill>
                  <a:srgbClr val="2E8B6A"/>
                </a:solidFill>
                <a:latin typeface="Segoe UI Black"/>
              </a:rPr>
              <a:t>✅ Terminamos cuando…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42250" y="5575300"/>
            <a:ext cx="3302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22313F"/>
                </a:solidFill>
                <a:latin typeface="Segoe UI"/>
              </a:rPr>
              <a:t>Trae las 118 ofertas, el salario como número, las tildes bien y los tests en verde.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25000" y="6464300"/>
            <a:ext cx="2286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9AA6B2"/>
                </a:solidFill>
                <a:latin typeface="Segoe UI"/>
              </a:rPr>
              <a:t>TalentScope · DataNexo   11/35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781800"/>
            <a:ext cx="3829050" cy="76200"/>
          </a:xfrm>
          <a:prstGeom prst="rect">
            <a:avLst/>
          </a:prstGeom>
          <a:gradFill rotWithShape="1">
            <a:gsLst>
              <a:gs pos="0">
                <a:srgbClr val="7DD3B0"/>
              </a:gs>
              <a:gs pos="100000">
                <a:srgbClr val="B9A6F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D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89000" y="571500"/>
            <a:ext cx="825500" cy="825500"/>
          </a:xfrm>
          <a:prstGeom prst="roundRect">
            <a:avLst>
              <a:gd name="adj" fmla="val 27692"/>
            </a:avLst>
          </a:prstGeom>
          <a:solidFill>
            <a:srgbClr val="FFD86B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9000" y="571500"/>
            <a:ext cx="8255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4800" b="0">
                <a:solidFill>
                  <a:srgbClr val="22313F"/>
                </a:solidFill>
                <a:latin typeface="Segoe UI Black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36750" y="635000"/>
            <a:ext cx="9525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22313F"/>
                </a:solidFill>
                <a:latin typeface="Cascadia Code"/>
              </a:rPr>
              <a:t>SQUAD A · SCRAPING 🕷️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36750" y="889000"/>
            <a:ext cx="9398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22313F"/>
                </a:solidFill>
                <a:latin typeface="Segoe UI Black"/>
              </a:rPr>
              <a:t>Sprint 1 (15–28 oct): quién hace qué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40000" y="1663700"/>
            <a:ext cx="3302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D6B78"/>
                </a:solidFill>
                <a:latin typeface="Segoe UI Black"/>
              </a:rPr>
              <a:t>Tu HU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12000" y="1663700"/>
            <a:ext cx="4064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D6B78"/>
                </a:solidFill>
                <a:latin typeface="Segoe UI Black"/>
              </a:rPr>
              <a:t>Está lista cuando…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9000" y="1936750"/>
            <a:ext cx="10414000" cy="622300"/>
          </a:xfrm>
          <a:prstGeom prst="roundRect">
            <a:avLst>
              <a:gd name="adj" fmla="val 30612"/>
            </a:avLst>
          </a:prstGeom>
          <a:solidFill>
            <a:srgbClr val="FFFFFF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16000" y="2044700"/>
            <a:ext cx="635000" cy="406400"/>
          </a:xfrm>
          <a:prstGeom prst="roundRect">
            <a:avLst>
              <a:gd name="adj" fmla="val 50000"/>
            </a:avLst>
          </a:prstGeom>
          <a:solidFill>
            <a:srgbClr val="FFD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6000" y="2044700"/>
            <a:ext cx="635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0">
                <a:solidFill>
                  <a:srgbClr val="22313F"/>
                </a:solidFill>
                <a:latin typeface="Segoe UI Black"/>
              </a:rPr>
              <a:t>A1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46250" y="2076450"/>
            <a:ext cx="698500" cy="342900"/>
          </a:xfrm>
          <a:prstGeom prst="roundRect">
            <a:avLst>
              <a:gd name="adj" fmla="val 50000"/>
            </a:avLst>
          </a:prstGeom>
          <a:solidFill>
            <a:srgbClr val="FF8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46250" y="2076450"/>
            <a:ext cx="6985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22313F"/>
                </a:solidFill>
                <a:latin typeface="Cascadia Code"/>
              </a:rPr>
              <a:t>BUG-04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40000" y="1936750"/>
            <a:ext cx="4445000" cy="622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22313F"/>
                </a:solidFill>
                <a:latin typeface="Segoe UI"/>
              </a:rPr>
              <a:t>El scraper no se cuelga ni daña tildes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12000" y="1936750"/>
            <a:ext cx="4064000" cy="622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D6B78"/>
                </a:solidFill>
                <a:latin typeface="Segoe UI"/>
              </a:rPr>
              <a:t>timeout=10, 3 reintentos y “Medellín” sale bien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9000" y="2647950"/>
            <a:ext cx="10414000" cy="622300"/>
          </a:xfrm>
          <a:prstGeom prst="roundRect">
            <a:avLst>
              <a:gd name="adj" fmla="val 30612"/>
            </a:avLst>
          </a:prstGeom>
          <a:solidFill>
            <a:srgbClr val="FFFFFF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16000" y="2755900"/>
            <a:ext cx="635000" cy="406400"/>
          </a:xfrm>
          <a:prstGeom prst="roundRect">
            <a:avLst>
              <a:gd name="adj" fmla="val 50000"/>
            </a:avLst>
          </a:prstGeom>
          <a:solidFill>
            <a:srgbClr val="FFD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16000" y="2755900"/>
            <a:ext cx="635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0">
                <a:solidFill>
                  <a:srgbClr val="22313F"/>
                </a:solidFill>
                <a:latin typeface="Segoe UI Black"/>
              </a:rPr>
              <a:t>A2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746250" y="2787650"/>
            <a:ext cx="698500" cy="342900"/>
          </a:xfrm>
          <a:prstGeom prst="roundRect">
            <a:avLst>
              <a:gd name="adj" fmla="val 50000"/>
            </a:avLst>
          </a:prstGeom>
          <a:solidFill>
            <a:srgbClr val="F3EA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46250" y="2787650"/>
            <a:ext cx="6985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22313F"/>
                </a:solidFill>
                <a:latin typeface="Cascadia Code"/>
              </a:rPr>
              <a:t>HU-10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40000" y="2647950"/>
            <a:ext cx="4445000" cy="622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22313F"/>
                </a:solidFill>
                <a:latin typeface="Segoe UI"/>
              </a:rPr>
              <a:t>Recorrer todas las páginas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12000" y="2647950"/>
            <a:ext cx="4064000" cy="622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D6B78"/>
                </a:solidFill>
                <a:latin typeface="Segoe UI"/>
              </a:rPr>
              <a:t>Sigue el botón “Siguiente” y obtiene las 118 ofertas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9000" y="3359150"/>
            <a:ext cx="10414000" cy="622300"/>
          </a:xfrm>
          <a:prstGeom prst="roundRect">
            <a:avLst>
              <a:gd name="adj" fmla="val 30612"/>
            </a:avLst>
          </a:prstGeom>
          <a:solidFill>
            <a:srgbClr val="FFFFFF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16000" y="3467100"/>
            <a:ext cx="635000" cy="406400"/>
          </a:xfrm>
          <a:prstGeom prst="roundRect">
            <a:avLst>
              <a:gd name="adj" fmla="val 50000"/>
            </a:avLst>
          </a:prstGeom>
          <a:solidFill>
            <a:srgbClr val="FFD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16000" y="3467100"/>
            <a:ext cx="635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0">
                <a:solidFill>
                  <a:srgbClr val="22313F"/>
                </a:solidFill>
                <a:latin typeface="Segoe UI Black"/>
              </a:rPr>
              <a:t>A3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746250" y="3498850"/>
            <a:ext cx="698500" cy="342900"/>
          </a:xfrm>
          <a:prstGeom prst="roundRect">
            <a:avLst>
              <a:gd name="adj" fmla="val 50000"/>
            </a:avLst>
          </a:prstGeom>
          <a:solidFill>
            <a:srgbClr val="F3EA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746250" y="3498850"/>
            <a:ext cx="6985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22313F"/>
                </a:solidFill>
                <a:latin typeface="Cascadia Code"/>
              </a:rPr>
              <a:t>HU-11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40000" y="3359150"/>
            <a:ext cx="4445000" cy="622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22313F"/>
                </a:solidFill>
                <a:latin typeface="Segoe UI"/>
              </a:rPr>
              <a:t>Leer el detalle de cada oferta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12000" y="3359150"/>
            <a:ext cx="4064000" cy="622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D6B78"/>
                </a:solidFill>
                <a:latin typeface="Segoe UI"/>
              </a:rPr>
              <a:t>parsear_detalle() devuelve skills (con |), modalidad y descripción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89000" y="4070350"/>
            <a:ext cx="10414000" cy="622300"/>
          </a:xfrm>
          <a:prstGeom prst="roundRect">
            <a:avLst>
              <a:gd name="adj" fmla="val 30612"/>
            </a:avLst>
          </a:prstGeom>
          <a:solidFill>
            <a:srgbClr val="FFFFFF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16000" y="4178300"/>
            <a:ext cx="635000" cy="406400"/>
          </a:xfrm>
          <a:prstGeom prst="roundRect">
            <a:avLst>
              <a:gd name="adj" fmla="val 50000"/>
            </a:avLst>
          </a:prstGeom>
          <a:solidFill>
            <a:srgbClr val="FFD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6000" y="4178300"/>
            <a:ext cx="635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0">
                <a:solidFill>
                  <a:srgbClr val="22313F"/>
                </a:solidFill>
                <a:latin typeface="Segoe UI Black"/>
              </a:rPr>
              <a:t>A4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746250" y="4210050"/>
            <a:ext cx="698500" cy="342900"/>
          </a:xfrm>
          <a:prstGeom prst="roundRect">
            <a:avLst>
              <a:gd name="adj" fmla="val 50000"/>
            </a:avLst>
          </a:prstGeom>
          <a:solidFill>
            <a:srgbClr val="F3EA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746250" y="4210050"/>
            <a:ext cx="6985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22313F"/>
                </a:solidFill>
                <a:latin typeface="Cascadia Code"/>
              </a:rPr>
              <a:t>HU-13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40000" y="4070350"/>
            <a:ext cx="4445000" cy="622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22313F"/>
                </a:solidFill>
                <a:latin typeface="Segoe UI"/>
              </a:rPr>
              <a:t>Salario de texto a números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12000" y="4070350"/>
            <a:ext cx="4064000" cy="622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D6B78"/>
                </a:solidFill>
                <a:latin typeface="Segoe UI"/>
              </a:rPr>
              <a:t>parsear_salario() pasa los 5 tests y suma 3 casos reales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89000" y="4781550"/>
            <a:ext cx="10414000" cy="622300"/>
          </a:xfrm>
          <a:prstGeom prst="roundRect">
            <a:avLst>
              <a:gd name="adj" fmla="val 30612"/>
            </a:avLst>
          </a:prstGeom>
          <a:solidFill>
            <a:srgbClr val="FFFFFF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016000" y="4889500"/>
            <a:ext cx="635000" cy="406400"/>
          </a:xfrm>
          <a:prstGeom prst="roundRect">
            <a:avLst>
              <a:gd name="adj" fmla="val 50000"/>
            </a:avLst>
          </a:prstGeom>
          <a:solidFill>
            <a:srgbClr val="FFD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16000" y="4889500"/>
            <a:ext cx="635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0">
                <a:solidFill>
                  <a:srgbClr val="22313F"/>
                </a:solidFill>
                <a:latin typeface="Segoe UI Black"/>
              </a:rPr>
              <a:t>A5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746250" y="4921250"/>
            <a:ext cx="698500" cy="342900"/>
          </a:xfrm>
          <a:prstGeom prst="roundRect">
            <a:avLst>
              <a:gd name="adj" fmla="val 50000"/>
            </a:avLst>
          </a:prstGeom>
          <a:solidFill>
            <a:srgbClr val="F3EA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746250" y="4921250"/>
            <a:ext cx="6985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22313F"/>
                </a:solidFill>
                <a:latin typeface="Cascadia Code"/>
              </a:rPr>
              <a:t>HU-14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40000" y="4781550"/>
            <a:ext cx="4445000" cy="622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22313F"/>
                </a:solidFill>
                <a:latin typeface="Segoe UI"/>
              </a:rPr>
              <a:t>Fecha de publicación real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12000" y="4781550"/>
            <a:ext cx="4064000" cy="622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D6B78"/>
                </a:solidFill>
                <a:latin typeface="Segoe UI"/>
              </a:rPr>
              <a:t>“Hoy”, “Hace N días” y “dd/mm/aaaa” pasan a AAAA-MM-DD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89000" y="5492750"/>
            <a:ext cx="10414000" cy="622300"/>
          </a:xfrm>
          <a:prstGeom prst="roundRect">
            <a:avLst>
              <a:gd name="adj" fmla="val 30612"/>
            </a:avLst>
          </a:prstGeom>
          <a:solidFill>
            <a:srgbClr val="FFFFFF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1016000" y="5600700"/>
            <a:ext cx="635000" cy="406400"/>
          </a:xfrm>
          <a:prstGeom prst="roundRect">
            <a:avLst>
              <a:gd name="adj" fmla="val 50000"/>
            </a:avLst>
          </a:prstGeom>
          <a:solidFill>
            <a:srgbClr val="FFD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16000" y="5600700"/>
            <a:ext cx="635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0">
                <a:solidFill>
                  <a:srgbClr val="22313F"/>
                </a:solidFill>
                <a:latin typeface="Segoe UI Black"/>
              </a:rPr>
              <a:t>A6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746250" y="5632450"/>
            <a:ext cx="698500" cy="342900"/>
          </a:xfrm>
          <a:prstGeom prst="roundRect">
            <a:avLst>
              <a:gd name="adj" fmla="val 50000"/>
            </a:avLst>
          </a:prstGeom>
          <a:solidFill>
            <a:srgbClr val="F3EA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746250" y="5632450"/>
            <a:ext cx="6985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22313F"/>
                </a:solidFill>
                <a:latin typeface="Cascadia Code"/>
              </a:rPr>
              <a:t>HU-12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540000" y="5492750"/>
            <a:ext cx="4445000" cy="622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22313F"/>
                </a:solidFill>
                <a:latin typeface="Segoe UI"/>
              </a:rPr>
              <a:t>Scraping responsable  👑 Scrum Master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112000" y="5492750"/>
            <a:ext cx="4064000" cy="622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D6B78"/>
                </a:solidFill>
                <a:latin typeface="Segoe UI"/>
              </a:rPr>
              <a:t>Respeta robots.txt, hace pausas y se identifica con su User-Agent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9000" y="6254750"/>
            <a:ext cx="8255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D6B78"/>
                </a:solidFill>
                <a:latin typeface="Segoe UI"/>
              </a:rPr>
              <a:t>Los BUG van en rojo: desbloquean a los demás, conviene que los tomen quienes tengan más experiencia.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525000" y="6464300"/>
            <a:ext cx="2286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9AA6B2"/>
                </a:solidFill>
                <a:latin typeface="Segoe UI"/>
              </a:rPr>
              <a:t>TalentScope · DataNexo   12/35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6781800"/>
            <a:ext cx="4178300" cy="76200"/>
          </a:xfrm>
          <a:prstGeom prst="rect">
            <a:avLst/>
          </a:prstGeom>
          <a:gradFill rotWithShape="1">
            <a:gsLst>
              <a:gs pos="0">
                <a:srgbClr val="7DD3B0"/>
              </a:gs>
              <a:gs pos="100000">
                <a:srgbClr val="B9A6F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89000" y="571500"/>
            <a:ext cx="825500" cy="825500"/>
          </a:xfrm>
          <a:prstGeom prst="roundRect">
            <a:avLst>
              <a:gd name="adj" fmla="val 27692"/>
            </a:avLst>
          </a:prstGeom>
          <a:solidFill>
            <a:srgbClr val="FFD86B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9000" y="571500"/>
            <a:ext cx="8255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4800" b="0">
                <a:solidFill>
                  <a:srgbClr val="22313F"/>
                </a:solidFill>
                <a:latin typeface="Segoe UI Black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36750" y="635000"/>
            <a:ext cx="9525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22313F"/>
                </a:solidFill>
                <a:latin typeface="Cascadia Code"/>
              </a:rPr>
              <a:t>SQUAD A · SCRAPING 🕷️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36750" y="889000"/>
            <a:ext cx="9398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22313F"/>
                </a:solidFill>
                <a:latin typeface="Segoe UI Black"/>
              </a:rPr>
              <a:t>El camino hasta el 9 de diciembre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9000" y="1778000"/>
            <a:ext cx="2476500" cy="444500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89000" y="1778000"/>
            <a:ext cx="2476500" cy="762000"/>
          </a:xfrm>
          <a:prstGeom prst="roundRect">
            <a:avLst>
              <a:gd name="adj" fmla="val 33333"/>
            </a:avLst>
          </a:prstGeom>
          <a:solidFill>
            <a:srgbClr val="7DD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89000" y="2159000"/>
            <a:ext cx="2476500" cy="381000"/>
          </a:xfrm>
          <a:prstGeom prst="rect">
            <a:avLst/>
          </a:prstGeom>
          <a:solidFill>
            <a:srgbClr val="7DD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9500" y="1854200"/>
            <a:ext cx="762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22313F"/>
                </a:solidFill>
                <a:latin typeface="Segoe UI Black"/>
              </a:rPr>
              <a:t>S1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78000" y="1905000"/>
            <a:ext cx="1460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200" b="1">
                <a:solidFill>
                  <a:srgbClr val="22313F"/>
                </a:solidFill>
                <a:latin typeface="Segoe UI"/>
              </a:rPr>
              <a:t>15–28 oct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9500" y="2235200"/>
            <a:ext cx="2159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22313F"/>
                </a:solidFill>
                <a:latin typeface="Segoe UI"/>
              </a:rPr>
              <a:t>Arreglar y arrancar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9500" y="2679700"/>
            <a:ext cx="762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C2453A"/>
                </a:solidFill>
                <a:latin typeface="Cascadia Code"/>
              </a:rPr>
              <a:t>BUG-04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9500" y="2857500"/>
            <a:ext cx="2159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22313F"/>
                </a:solidFill>
                <a:latin typeface="Segoe UI"/>
              </a:rPr>
              <a:t>El scraper no se cuelga ni daña tildes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9500" y="3263900"/>
            <a:ext cx="762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5D6B78"/>
                </a:solidFill>
                <a:latin typeface="Cascadia Code"/>
              </a:rPr>
              <a:t>HU-10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9500" y="3441700"/>
            <a:ext cx="2159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22313F"/>
                </a:solidFill>
                <a:latin typeface="Segoe UI"/>
              </a:rPr>
              <a:t>Recorrer todas las páginas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9500" y="3848100"/>
            <a:ext cx="762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5D6B78"/>
                </a:solidFill>
                <a:latin typeface="Cascadia Code"/>
              </a:rPr>
              <a:t>HU-11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9500" y="4025900"/>
            <a:ext cx="2159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22313F"/>
                </a:solidFill>
                <a:latin typeface="Segoe UI"/>
              </a:rPr>
              <a:t>Leer el detalle de cada oferta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9500" y="4432300"/>
            <a:ext cx="762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5D6B78"/>
                </a:solidFill>
                <a:latin typeface="Cascadia Code"/>
              </a:rPr>
              <a:t>HU-13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9500" y="4610100"/>
            <a:ext cx="2159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22313F"/>
                </a:solidFill>
                <a:latin typeface="Segoe UI"/>
              </a:rPr>
              <a:t>Salario de texto a números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9500" y="5016500"/>
            <a:ext cx="762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5D6B78"/>
                </a:solidFill>
                <a:latin typeface="Cascadia Code"/>
              </a:rPr>
              <a:t>HU-14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9500" y="5194300"/>
            <a:ext cx="2159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22313F"/>
                </a:solidFill>
                <a:latin typeface="Segoe UI"/>
              </a:rPr>
              <a:t>Fecha de publicación real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9500" y="5600700"/>
            <a:ext cx="762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5D6B78"/>
                </a:solidFill>
                <a:latin typeface="Cascadia Code"/>
              </a:rPr>
              <a:t>HU-12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9500" y="5778500"/>
            <a:ext cx="2159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22313F"/>
                </a:solidFill>
                <a:latin typeface="Segoe UI"/>
              </a:rPr>
              <a:t>Scraping responsable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543300" y="1778000"/>
            <a:ext cx="2476500" cy="444500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543300" y="1778000"/>
            <a:ext cx="2476500" cy="762000"/>
          </a:xfrm>
          <a:prstGeom prst="roundRect">
            <a:avLst>
              <a:gd name="adj" fmla="val 33333"/>
            </a:avLst>
          </a:prstGeom>
          <a:solidFill>
            <a:srgbClr val="8EC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543300" y="2159000"/>
            <a:ext cx="2476500" cy="381000"/>
          </a:xfrm>
          <a:prstGeom prst="rect">
            <a:avLst/>
          </a:prstGeom>
          <a:solidFill>
            <a:srgbClr val="8EC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33800" y="1854200"/>
            <a:ext cx="762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22313F"/>
                </a:solidFill>
                <a:latin typeface="Segoe UI Black"/>
              </a:rPr>
              <a:t>S2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2300" y="1905000"/>
            <a:ext cx="1460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200" b="1">
                <a:solidFill>
                  <a:srgbClr val="22313F"/>
                </a:solidFill>
                <a:latin typeface="Segoe UI"/>
              </a:rPr>
              <a:t>29 oct–11 nov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33800" y="2235200"/>
            <a:ext cx="2159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22313F"/>
                </a:solidFill>
                <a:latin typeface="Segoe UI"/>
              </a:rPr>
              <a:t>Datos confiables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33800" y="2679700"/>
            <a:ext cx="762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5D6B78"/>
                </a:solidFill>
                <a:latin typeface="Cascadia Code"/>
              </a:rPr>
              <a:t>HU-15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33800" y="2857500"/>
            <a:ext cx="2159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22313F"/>
                </a:solidFill>
                <a:latin typeface="Segoe UI"/>
              </a:rPr>
              <a:t>ofertas.xlsx según el contrato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33800" y="3263900"/>
            <a:ext cx="762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5D6B78"/>
                </a:solidFill>
                <a:latin typeface="Cascadia Code"/>
              </a:rPr>
              <a:t>HU-16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33800" y="3441700"/>
            <a:ext cx="2159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22313F"/>
                </a:solidFill>
                <a:latin typeface="Segoe UI"/>
              </a:rPr>
              <a:t>Segunda fuente: Fake Jobs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33800" y="3848100"/>
            <a:ext cx="762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5D6B78"/>
                </a:solidFill>
                <a:latin typeface="Cascadia Code"/>
              </a:rPr>
              <a:t>HU-17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33800" y="4025900"/>
            <a:ext cx="2159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22313F"/>
                </a:solidFill>
                <a:latin typeface="Segoe UI"/>
              </a:rPr>
              <a:t>Separar rol y nivel del título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33800" y="4432300"/>
            <a:ext cx="762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5D6B78"/>
                </a:solidFill>
                <a:latin typeface="Cascadia Code"/>
              </a:rPr>
              <a:t>HU-18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33800" y="4610100"/>
            <a:ext cx="2159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22313F"/>
                </a:solidFill>
                <a:latin typeface="Segoe UI"/>
              </a:rPr>
              <a:t>Tests del scraper sin internet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33800" y="5016500"/>
            <a:ext cx="762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5D6B78"/>
                </a:solidFill>
                <a:latin typeface="Cascadia Code"/>
              </a:rPr>
              <a:t>HU-19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33800" y="5194300"/>
            <a:ext cx="2159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22313F"/>
                </a:solidFill>
                <a:latin typeface="Segoe UI"/>
              </a:rPr>
              <a:t>Histórico sin duplicados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33800" y="5600700"/>
            <a:ext cx="762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5D6B78"/>
                </a:solidFill>
                <a:latin typeface="Cascadia Code"/>
              </a:rPr>
              <a:t>HU-20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33800" y="5778500"/>
            <a:ext cx="2159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22313F"/>
                </a:solidFill>
                <a:latin typeface="Segoe UI"/>
              </a:rPr>
              <a:t>Bitácora de cada corrida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97600" y="1778000"/>
            <a:ext cx="2476500" cy="444500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197600" y="1778000"/>
            <a:ext cx="2476500" cy="762000"/>
          </a:xfrm>
          <a:prstGeom prst="roundRect">
            <a:avLst>
              <a:gd name="adj" fmla="val 33333"/>
            </a:avLst>
          </a:prstGeom>
          <a:solidFill>
            <a:srgbClr val="FFD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197600" y="2159000"/>
            <a:ext cx="2476500" cy="381000"/>
          </a:xfrm>
          <a:prstGeom prst="rect">
            <a:avLst/>
          </a:prstGeom>
          <a:solidFill>
            <a:srgbClr val="FFD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88100" y="1854200"/>
            <a:ext cx="762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22313F"/>
                </a:solidFill>
                <a:latin typeface="Segoe UI Black"/>
              </a:rPr>
              <a:t>S3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86600" y="1905000"/>
            <a:ext cx="1460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200" b="1">
                <a:solidFill>
                  <a:srgbClr val="22313F"/>
                </a:solidFill>
                <a:latin typeface="Segoe UI"/>
              </a:rPr>
              <a:t>12–25 nov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88100" y="2235200"/>
            <a:ext cx="2159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22313F"/>
                </a:solidFill>
                <a:latin typeface="Segoe UI"/>
              </a:rPr>
              <a:t>Que corra solo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88100" y="2679700"/>
            <a:ext cx="762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5D6B78"/>
                </a:solidFill>
                <a:latin typeface="Cascadia Code"/>
              </a:rPr>
              <a:t>HU-23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88100" y="2857500"/>
            <a:ext cx="2159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5D6B78"/>
                </a:solidFill>
                <a:latin typeface="Segoe UI"/>
              </a:rPr>
              <a:t>🔒 Capacidad reservada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88100" y="3263900"/>
            <a:ext cx="762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5D6B78"/>
                </a:solidFill>
                <a:latin typeface="Cascadia Code"/>
              </a:rPr>
              <a:t>HU-24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88100" y="3441700"/>
            <a:ext cx="2159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22313F"/>
                </a:solidFill>
                <a:latin typeface="Segoe UI"/>
              </a:rPr>
              <a:t>Alerta si no llegan ofertas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88100" y="3848100"/>
            <a:ext cx="762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5D6B78"/>
                </a:solidFill>
                <a:latin typeface="Cascadia Code"/>
              </a:rPr>
              <a:t>HU-25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88100" y="4025900"/>
            <a:ext cx="2159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22313F"/>
                </a:solidFill>
                <a:latin typeface="Segoe UI"/>
              </a:rPr>
              <a:t>Skills en la descripción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88100" y="4432300"/>
            <a:ext cx="762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5D6B78"/>
                </a:solidFill>
                <a:latin typeface="Cascadia Code"/>
              </a:rPr>
              <a:t>HU-26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88100" y="4610100"/>
            <a:ext cx="2159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22313F"/>
                </a:solidFill>
                <a:latin typeface="Segoe UI"/>
              </a:rPr>
              <a:t>Completitud de los datos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88100" y="5016500"/>
            <a:ext cx="762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5D6B78"/>
                </a:solidFill>
                <a:latin typeface="Cascadia Code"/>
              </a:rPr>
              <a:t>HU-27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88100" y="5194300"/>
            <a:ext cx="2159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22313F"/>
                </a:solidFill>
                <a:latin typeface="Segoe UI"/>
              </a:rPr>
              <a:t>Empresas que más publican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851900" y="1778000"/>
            <a:ext cx="2476500" cy="444500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8851900" y="1778000"/>
            <a:ext cx="2476500" cy="762000"/>
          </a:xfrm>
          <a:prstGeom prst="roundRect">
            <a:avLst>
              <a:gd name="adj" fmla="val 33333"/>
            </a:avLst>
          </a:prstGeom>
          <a:solidFill>
            <a:srgbClr val="B9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851900" y="2159000"/>
            <a:ext cx="2476500" cy="381000"/>
          </a:xfrm>
          <a:prstGeom prst="rect">
            <a:avLst/>
          </a:prstGeom>
          <a:solidFill>
            <a:srgbClr val="B9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042400" y="1854200"/>
            <a:ext cx="762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22313F"/>
                </a:solidFill>
                <a:latin typeface="Segoe UI Black"/>
              </a:rPr>
              <a:t>S4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740900" y="1905000"/>
            <a:ext cx="1460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200" b="1">
                <a:solidFill>
                  <a:srgbClr val="22313F"/>
                </a:solidFill>
                <a:latin typeface="Segoe UI"/>
              </a:rPr>
              <a:t>26 nov–9 dic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042400" y="2235200"/>
            <a:ext cx="2159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22313F"/>
                </a:solidFill>
                <a:latin typeface="Segoe UI"/>
              </a:rPr>
              <a:t>Todos juntos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042400" y="2679700"/>
            <a:ext cx="762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5D6B78"/>
                </a:solidFill>
                <a:latin typeface="Cascadia Code"/>
              </a:rPr>
              <a:t>HU-70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042400" y="2857500"/>
            <a:ext cx="2159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22313F"/>
                </a:solidFill>
                <a:latin typeface="Segoe UI"/>
              </a:rPr>
              <a:t>Integración de punta a punta (A1)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042400" y="3263900"/>
            <a:ext cx="762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5D6B78"/>
                </a:solidFill>
                <a:latin typeface="Cascadia Code"/>
              </a:rPr>
              <a:t>HU-71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042400" y="3441700"/>
            <a:ext cx="2159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22313F"/>
                </a:solidFill>
                <a:latin typeface="Segoe UI"/>
              </a:rPr>
              <a:t>QA cruzado con otro squad (A2 y 3)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042400" y="3848100"/>
            <a:ext cx="762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5D6B78"/>
                </a:solidFill>
                <a:latin typeface="Cascadia Code"/>
              </a:rPr>
              <a:t>HU-72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042400" y="4025900"/>
            <a:ext cx="2159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22313F"/>
                </a:solidFill>
                <a:latin typeface="Segoe UI"/>
              </a:rPr>
              <a:t>Manual de operación (A4)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042400" y="4432300"/>
            <a:ext cx="762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5D6B78"/>
                </a:solidFill>
                <a:latin typeface="Cascadia Code"/>
              </a:rPr>
              <a:t>HU-73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042400" y="4610100"/>
            <a:ext cx="2159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22313F"/>
                </a:solidFill>
                <a:latin typeface="Segoe UI"/>
              </a:rPr>
              <a:t>Informe final y demo al cliente (A5)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042400" y="5016500"/>
            <a:ext cx="762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5D6B78"/>
                </a:solidFill>
                <a:latin typeface="Cascadia Code"/>
              </a:rPr>
              <a:t>HU-74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042400" y="5194300"/>
            <a:ext cx="2159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22313F"/>
                </a:solidFill>
                <a:latin typeface="Segoe UI"/>
              </a:rPr>
              <a:t>Limpieza final del código (A6)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525000" y="6464300"/>
            <a:ext cx="2286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9AA6B2"/>
                </a:solidFill>
                <a:latin typeface="Segoe UI"/>
              </a:rPr>
              <a:t>TalentScope · DataNexo   13/35</a:t>
            </a:r>
          </a:p>
        </p:txBody>
      </p:sp>
      <p:sp>
        <p:nvSpPr>
          <p:cNvPr id="75" name="Rectangle 74"/>
          <p:cNvSpPr/>
          <p:nvPr/>
        </p:nvSpPr>
        <p:spPr>
          <a:xfrm>
            <a:off x="0" y="6781800"/>
            <a:ext cx="4527550" cy="76200"/>
          </a:xfrm>
          <a:prstGeom prst="rect">
            <a:avLst/>
          </a:prstGeom>
          <a:gradFill rotWithShape="1">
            <a:gsLst>
              <a:gs pos="0">
                <a:srgbClr val="7DD3B0"/>
              </a:gs>
              <a:gs pos="100000">
                <a:srgbClr val="B9A6F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89000" y="571500"/>
            <a:ext cx="825500" cy="825500"/>
          </a:xfrm>
          <a:prstGeom prst="roundRect">
            <a:avLst>
              <a:gd name="adj" fmla="val 27692"/>
            </a:avLst>
          </a:prstGeom>
          <a:solidFill>
            <a:srgbClr val="FFB38A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9000" y="571500"/>
            <a:ext cx="8255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4800" b="0">
                <a:solidFill>
                  <a:srgbClr val="22313F"/>
                </a:solidFill>
                <a:latin typeface="Segoe UI Black"/>
              </a:rPr>
              <a:t>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36750" y="635000"/>
            <a:ext cx="9525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22313F"/>
                </a:solidFill>
                <a:latin typeface="Cascadia Code"/>
              </a:rPr>
              <a:t>SQUAD B · EXCEL DE ALIADOS 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36750" y="889000"/>
            <a:ext cx="9398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22313F"/>
                </a:solidFill>
                <a:latin typeface="Segoe UI Black"/>
              </a:rPr>
              <a:t>Leer y limpiar los Excel de los aliados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9000" y="1841500"/>
            <a:ext cx="6350000" cy="1270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11250" y="2095500"/>
            <a:ext cx="762000" cy="762000"/>
          </a:xfrm>
          <a:prstGeom prst="ellipse">
            <a:avLst/>
          </a:prstGeom>
          <a:solidFill>
            <a:srgbClr val="FFB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1250" y="2095500"/>
            <a:ext cx="76200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800" b="0">
                <a:solidFill>
                  <a:srgbClr val="22313F"/>
                </a:solidFill>
                <a:latin typeface="Segoe UI Emoji"/>
              </a:rPr>
              <a:t>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95500" y="2019300"/>
            <a:ext cx="49530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2313F"/>
                </a:solidFill>
                <a:latin typeface="Segoe UI Black"/>
              </a:rPr>
              <a:t>Recibe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95500" y="2362200"/>
            <a:ext cx="49530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5D6B78"/>
                </a:solidFill>
                <a:latin typeface="Segoe UI"/>
              </a:rPr>
              <a:t>Excel tal como llegan en data/raw/excel: Universidad Andina, Talentia (una hoja por ciudad) y egresados.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73500" y="3086100"/>
            <a:ext cx="381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5D6B78"/>
                </a:solidFill>
                <a:latin typeface="Segoe UI"/>
              </a:rPr>
              <a:t>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9000" y="3270250"/>
            <a:ext cx="6350000" cy="1270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11250" y="3524250"/>
            <a:ext cx="762000" cy="762000"/>
          </a:xfrm>
          <a:prstGeom prst="ellipse">
            <a:avLst/>
          </a:prstGeom>
          <a:solidFill>
            <a:srgbClr val="FFB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1250" y="3524250"/>
            <a:ext cx="76200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800" b="0">
                <a:solidFill>
                  <a:srgbClr val="22313F"/>
                </a:solidFill>
                <a:latin typeface="Segoe UI Emoji"/>
              </a:rPr>
              <a:t>⚙️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95500" y="3448050"/>
            <a:ext cx="49530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2313F"/>
                </a:solidFill>
                <a:latin typeface="Segoe UI Black"/>
              </a:rPr>
              <a:t>Hace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95500" y="3790950"/>
            <a:ext cx="49530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5D6B78"/>
                </a:solidFill>
                <a:latin typeface="Segoe UI"/>
              </a:rPr>
              <a:t>Los lee con pandas sin tocarlos a mano, corrige textos, números, ciudades y skills, y aparta las filas malas.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73500" y="4514850"/>
            <a:ext cx="381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5D6B78"/>
                </a:solidFill>
                <a:latin typeface="Segoe UI"/>
              </a:rPr>
              <a:t>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9000" y="4699000"/>
            <a:ext cx="6350000" cy="1270000"/>
          </a:xfrm>
          <a:prstGeom prst="roundRect">
            <a:avLst>
              <a:gd name="adj" fmla="val 20000"/>
            </a:avLst>
          </a:prstGeom>
          <a:solidFill>
            <a:srgbClr val="1D2A38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11250" y="4953000"/>
            <a:ext cx="762000" cy="762000"/>
          </a:xfrm>
          <a:prstGeom prst="ellipse">
            <a:avLst/>
          </a:prstGeom>
          <a:solidFill>
            <a:srgbClr val="FFB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11250" y="4953000"/>
            <a:ext cx="76200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800" b="0">
                <a:solidFill>
                  <a:srgbClr val="22313F"/>
                </a:solidFill>
                <a:latin typeface="Segoe UI Emoji"/>
              </a:rPr>
              <a:t>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95500" y="4876800"/>
            <a:ext cx="49530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7DD3B0"/>
                </a:solidFill>
                <a:latin typeface="Segoe UI Black"/>
              </a:rPr>
              <a:t>Entrega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95500" y="5219700"/>
            <a:ext cx="49530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D7E3EE"/>
                </a:solidFill>
                <a:latin typeface="Segoe UI"/>
              </a:rPr>
              <a:t>encuestas.xlsx, egresados.xlsx y rechazados.xlsx → los usa el Squad C.</a:t>
            </a:r>
          </a:p>
        </p:txBody>
      </p:sp>
      <p:pic>
        <p:nvPicPr>
          <p:cNvPr id="23" name="Picture 22" descr="excel.jpg"/>
          <p:cNvPicPr>
            <a:picLocks noChangeAspect="1"/>
          </p:cNvPicPr>
          <p:nvPr/>
        </p:nvPicPr>
        <p:blipFill>
          <a:blip r:embed="rId3"/>
          <a:srcRect t="12069" b="12069"/>
          <a:stretch>
            <a:fillRect/>
          </a:stretch>
        </p:blipFill>
        <p:spPr>
          <a:xfrm>
            <a:off x="7620000" y="1841500"/>
            <a:ext cx="3683000" cy="2095500"/>
          </a:xfrm>
          <a:prstGeom prst="roundRect">
            <a:avLst>
              <a:gd name="adj" fmla="val 14545"/>
            </a:avLst>
          </a:prstGeom>
          <a:effectLst>
            <a:outerShdw blurRad="317500" dist="114300" dir="5400000" algn="t" rotWithShape="0">
              <a:srgbClr val="22313F">
                <a:alpha val="18000"/>
              </a:srgbClr>
            </a:outerShdw>
          </a:effectLst>
        </p:spPr>
      </p:pic>
      <p:sp>
        <p:nvSpPr>
          <p:cNvPr id="24" name="Rounded Rectangle 23"/>
          <p:cNvSpPr/>
          <p:nvPr/>
        </p:nvSpPr>
        <p:spPr>
          <a:xfrm>
            <a:off x="7620000" y="4127500"/>
            <a:ext cx="3683000" cy="889000"/>
          </a:xfrm>
          <a:prstGeom prst="roundRect">
            <a:avLst>
              <a:gd name="adj" fmla="val 25714"/>
            </a:avLst>
          </a:prstGeom>
          <a:solidFill>
            <a:srgbClr val="FFFFFF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42250" y="4241800"/>
            <a:ext cx="330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>
                <a:solidFill>
                  <a:srgbClr val="22313F"/>
                </a:solidFill>
                <a:latin typeface="Segoe UI Black"/>
              </a:rPr>
              <a:t>🧰 Herramientas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42250" y="4540250"/>
            <a:ext cx="3302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5D6B78"/>
                </a:solidFill>
                <a:latin typeface="Cascadia Code"/>
              </a:rPr>
              <a:t>read_excel(header=, sheet_name=None) · .str · to_numeric · to_datetime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20000" y="5175250"/>
            <a:ext cx="3683000" cy="952500"/>
          </a:xfrm>
          <a:prstGeom prst="roundRect">
            <a:avLst>
              <a:gd name="adj" fmla="val 24000"/>
            </a:avLst>
          </a:prstGeom>
          <a:solidFill>
            <a:srgbClr val="EEF8F3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42250" y="5283200"/>
            <a:ext cx="330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>
                <a:solidFill>
                  <a:srgbClr val="2E8B6A"/>
                </a:solidFill>
                <a:latin typeface="Segoe UI Black"/>
              </a:rPr>
              <a:t>✅ Terminamos cuando…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42250" y="5575300"/>
            <a:ext cx="3302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22313F"/>
                </a:solidFill>
                <a:latin typeface="Segoe UI"/>
              </a:rPr>
              <a:t>Cero columnas “Unnamed”, una sola forma por ciudad y cada fila rechazada con su motivo.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25000" y="6464300"/>
            <a:ext cx="2286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9AA6B2"/>
                </a:solidFill>
                <a:latin typeface="Segoe UI"/>
              </a:rPr>
              <a:t>TalentScope · DataNexo   14/35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781800"/>
            <a:ext cx="4876800" cy="76200"/>
          </a:xfrm>
          <a:prstGeom prst="rect">
            <a:avLst/>
          </a:prstGeom>
          <a:gradFill rotWithShape="1">
            <a:gsLst>
              <a:gs pos="0">
                <a:srgbClr val="7DD3B0"/>
              </a:gs>
              <a:gs pos="100000">
                <a:srgbClr val="B9A6F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89000" y="571500"/>
            <a:ext cx="825500" cy="825500"/>
          </a:xfrm>
          <a:prstGeom prst="roundRect">
            <a:avLst>
              <a:gd name="adj" fmla="val 27692"/>
            </a:avLst>
          </a:prstGeom>
          <a:solidFill>
            <a:srgbClr val="FFB38A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9000" y="571500"/>
            <a:ext cx="8255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4800" b="0">
                <a:solidFill>
                  <a:srgbClr val="22313F"/>
                </a:solidFill>
                <a:latin typeface="Segoe UI Black"/>
              </a:rPr>
              <a:t>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36750" y="635000"/>
            <a:ext cx="9525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22313F"/>
                </a:solidFill>
                <a:latin typeface="Cascadia Code"/>
              </a:rPr>
              <a:t>SQUAD B · EXCEL DE ALIADOS 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36750" y="889000"/>
            <a:ext cx="9398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22313F"/>
                </a:solidFill>
                <a:latin typeface="Segoe UI Black"/>
              </a:rPr>
              <a:t>Sprint 1 (15–28 oct): quién hace qué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40000" y="1663700"/>
            <a:ext cx="3302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D6B78"/>
                </a:solidFill>
                <a:latin typeface="Segoe UI Black"/>
              </a:rPr>
              <a:t>Tu HU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12000" y="1663700"/>
            <a:ext cx="4064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D6B78"/>
                </a:solidFill>
                <a:latin typeface="Segoe UI Black"/>
              </a:rPr>
              <a:t>Está lista cuando…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9000" y="1936750"/>
            <a:ext cx="10414000" cy="622300"/>
          </a:xfrm>
          <a:prstGeom prst="roundRect">
            <a:avLst>
              <a:gd name="adj" fmla="val 30612"/>
            </a:avLst>
          </a:prstGeom>
          <a:solidFill>
            <a:srgbClr val="FFFFFF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16000" y="2044700"/>
            <a:ext cx="635000" cy="406400"/>
          </a:xfrm>
          <a:prstGeom prst="roundRect">
            <a:avLst>
              <a:gd name="adj" fmla="val 50000"/>
            </a:avLst>
          </a:prstGeom>
          <a:solidFill>
            <a:srgbClr val="FFB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6000" y="2044700"/>
            <a:ext cx="635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0">
                <a:solidFill>
                  <a:srgbClr val="22313F"/>
                </a:solidFill>
                <a:latin typeface="Segoe UI Black"/>
              </a:rPr>
              <a:t>B1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46250" y="2076450"/>
            <a:ext cx="698500" cy="342900"/>
          </a:xfrm>
          <a:prstGeom prst="roundRect">
            <a:avLst>
              <a:gd name="adj" fmla="val 50000"/>
            </a:avLst>
          </a:prstGeom>
          <a:solidFill>
            <a:srgbClr val="FF8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46250" y="2076450"/>
            <a:ext cx="6985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22313F"/>
                </a:solidFill>
                <a:latin typeface="Cascadia Code"/>
              </a:rPr>
              <a:t>BUG-02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40000" y="1936750"/>
            <a:ext cx="4445000" cy="622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22313F"/>
                </a:solidFill>
                <a:latin typeface="Segoe UI"/>
              </a:rPr>
              <a:t>Encabezados de Universidad Andina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12000" y="1936750"/>
            <a:ext cx="4064000" cy="622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D6B78"/>
                </a:solidFill>
                <a:latin typeface="Segoe UI"/>
              </a:rPr>
              <a:t>Pasan los 2 tests usando header=, sin editar el Excel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9000" y="2647950"/>
            <a:ext cx="10414000" cy="622300"/>
          </a:xfrm>
          <a:prstGeom prst="roundRect">
            <a:avLst>
              <a:gd name="adj" fmla="val 30612"/>
            </a:avLst>
          </a:prstGeom>
          <a:solidFill>
            <a:srgbClr val="FFFFFF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16000" y="2755900"/>
            <a:ext cx="635000" cy="406400"/>
          </a:xfrm>
          <a:prstGeom prst="roundRect">
            <a:avLst>
              <a:gd name="adj" fmla="val 50000"/>
            </a:avLst>
          </a:prstGeom>
          <a:solidFill>
            <a:srgbClr val="FFB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16000" y="2755900"/>
            <a:ext cx="635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0">
                <a:solidFill>
                  <a:srgbClr val="22313F"/>
                </a:solidFill>
                <a:latin typeface="Segoe UI Black"/>
              </a:rPr>
              <a:t>B2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746250" y="2787650"/>
            <a:ext cx="698500" cy="342900"/>
          </a:xfrm>
          <a:prstGeom prst="roundRect">
            <a:avLst>
              <a:gd name="adj" fmla="val 50000"/>
            </a:avLst>
          </a:prstGeom>
          <a:solidFill>
            <a:srgbClr val="F3EA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46250" y="2787650"/>
            <a:ext cx="6985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22313F"/>
                </a:solidFill>
                <a:latin typeface="Cascadia Code"/>
              </a:rPr>
              <a:t>HU-31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40000" y="2647950"/>
            <a:ext cx="4445000" cy="622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22313F"/>
                </a:solidFill>
                <a:latin typeface="Segoe UI"/>
              </a:rPr>
              <a:t>Lector de Talentia (hoja por ciudad)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12000" y="2647950"/>
            <a:ext cx="4064000" cy="622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D6B78"/>
                </a:solidFill>
                <a:latin typeface="Segoe UI"/>
              </a:rPr>
              <a:t>Lee todas las hojas, agrega la ciudad y quita la fila TOTAL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9000" y="3359150"/>
            <a:ext cx="10414000" cy="622300"/>
          </a:xfrm>
          <a:prstGeom prst="roundRect">
            <a:avLst>
              <a:gd name="adj" fmla="val 30612"/>
            </a:avLst>
          </a:prstGeom>
          <a:solidFill>
            <a:srgbClr val="FFFFFF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16000" y="3467100"/>
            <a:ext cx="635000" cy="406400"/>
          </a:xfrm>
          <a:prstGeom prst="roundRect">
            <a:avLst>
              <a:gd name="adj" fmla="val 50000"/>
            </a:avLst>
          </a:prstGeom>
          <a:solidFill>
            <a:srgbClr val="FFB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16000" y="3467100"/>
            <a:ext cx="635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0">
                <a:solidFill>
                  <a:srgbClr val="22313F"/>
                </a:solidFill>
                <a:latin typeface="Segoe UI Black"/>
              </a:rPr>
              <a:t>B3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746250" y="3498850"/>
            <a:ext cx="698500" cy="342900"/>
          </a:xfrm>
          <a:prstGeom prst="roundRect">
            <a:avLst>
              <a:gd name="adj" fmla="val 50000"/>
            </a:avLst>
          </a:prstGeom>
          <a:solidFill>
            <a:srgbClr val="FF8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746250" y="3498850"/>
            <a:ext cx="6985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22313F"/>
                </a:solidFill>
                <a:latin typeface="Cascadia Code"/>
              </a:rPr>
              <a:t>BUG-01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40000" y="3359150"/>
            <a:ext cx="4445000" cy="622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22313F"/>
                </a:solidFill>
                <a:latin typeface="Segoe UI"/>
              </a:rPr>
              <a:t>Ciudades escritas de una sola forma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12000" y="3359150"/>
            <a:ext cx="4064000" cy="622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D6B78"/>
                </a:solidFill>
                <a:latin typeface="Segoe UI"/>
              </a:rPr>
              <a:t>Pasan los 10 casos de normalizar_ciudad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89000" y="4070350"/>
            <a:ext cx="10414000" cy="622300"/>
          </a:xfrm>
          <a:prstGeom prst="roundRect">
            <a:avLst>
              <a:gd name="adj" fmla="val 30612"/>
            </a:avLst>
          </a:prstGeom>
          <a:solidFill>
            <a:srgbClr val="FFFFFF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16000" y="4178300"/>
            <a:ext cx="635000" cy="406400"/>
          </a:xfrm>
          <a:prstGeom prst="roundRect">
            <a:avLst>
              <a:gd name="adj" fmla="val 50000"/>
            </a:avLst>
          </a:prstGeom>
          <a:solidFill>
            <a:srgbClr val="FFB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6000" y="4178300"/>
            <a:ext cx="635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0">
                <a:solidFill>
                  <a:srgbClr val="22313F"/>
                </a:solidFill>
                <a:latin typeface="Segoe UI Black"/>
              </a:rPr>
              <a:t>B4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746250" y="4210050"/>
            <a:ext cx="698500" cy="342900"/>
          </a:xfrm>
          <a:prstGeom prst="roundRect">
            <a:avLst>
              <a:gd name="adj" fmla="val 50000"/>
            </a:avLst>
          </a:prstGeom>
          <a:solidFill>
            <a:srgbClr val="F3EA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746250" y="4210050"/>
            <a:ext cx="6985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22313F"/>
                </a:solidFill>
                <a:latin typeface="Cascadia Code"/>
              </a:rPr>
              <a:t>HU-33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40000" y="4070350"/>
            <a:ext cx="4445000" cy="622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22313F"/>
                </a:solidFill>
                <a:latin typeface="Segoe UI"/>
              </a:rPr>
              <a:t>Salarios y experiencia a números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12000" y="4070350"/>
            <a:ext cx="4064000" cy="622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D6B78"/>
                </a:solidFill>
                <a:latin typeface="Segoe UI"/>
              </a:rPr>
              <a:t>“$5.200.000” → 5200000 y “3 años” → 3, con 6 tests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89000" y="4781550"/>
            <a:ext cx="10414000" cy="622300"/>
          </a:xfrm>
          <a:prstGeom prst="roundRect">
            <a:avLst>
              <a:gd name="adj" fmla="val 30612"/>
            </a:avLst>
          </a:prstGeom>
          <a:solidFill>
            <a:srgbClr val="FFFFFF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016000" y="4889500"/>
            <a:ext cx="635000" cy="406400"/>
          </a:xfrm>
          <a:prstGeom prst="roundRect">
            <a:avLst>
              <a:gd name="adj" fmla="val 50000"/>
            </a:avLst>
          </a:prstGeom>
          <a:solidFill>
            <a:srgbClr val="FFB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16000" y="4889500"/>
            <a:ext cx="635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0">
                <a:solidFill>
                  <a:srgbClr val="22313F"/>
                </a:solidFill>
                <a:latin typeface="Segoe UI Black"/>
              </a:rPr>
              <a:t>B5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746250" y="4921250"/>
            <a:ext cx="698500" cy="342900"/>
          </a:xfrm>
          <a:prstGeom prst="roundRect">
            <a:avLst>
              <a:gd name="adj" fmla="val 50000"/>
            </a:avLst>
          </a:prstGeom>
          <a:solidFill>
            <a:srgbClr val="F3EA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746250" y="4921250"/>
            <a:ext cx="6985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22313F"/>
                </a:solidFill>
                <a:latin typeface="Cascadia Code"/>
              </a:rPr>
              <a:t>HU-34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40000" y="4781550"/>
            <a:ext cx="4445000" cy="622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22313F"/>
                </a:solidFill>
                <a:latin typeface="Segoe UI"/>
              </a:rPr>
              <a:t>Skills con el catálogo oficial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12000" y="4781550"/>
            <a:ext cx="4064000" cy="622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D6B78"/>
                </a:solidFill>
                <a:latin typeface="Segoe UI"/>
              </a:rPr>
              <a:t>normalizar_skills('java / spring') → 'Java|Spring Boot'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89000" y="5492750"/>
            <a:ext cx="10414000" cy="622300"/>
          </a:xfrm>
          <a:prstGeom prst="roundRect">
            <a:avLst>
              <a:gd name="adj" fmla="val 30612"/>
            </a:avLst>
          </a:prstGeom>
          <a:solidFill>
            <a:srgbClr val="FFFFFF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1016000" y="5600700"/>
            <a:ext cx="635000" cy="406400"/>
          </a:xfrm>
          <a:prstGeom prst="roundRect">
            <a:avLst>
              <a:gd name="adj" fmla="val 50000"/>
            </a:avLst>
          </a:prstGeom>
          <a:solidFill>
            <a:srgbClr val="FFB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16000" y="5600700"/>
            <a:ext cx="635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0">
                <a:solidFill>
                  <a:srgbClr val="22313F"/>
                </a:solidFill>
                <a:latin typeface="Segoe UI Black"/>
              </a:rPr>
              <a:t>B6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746250" y="5632450"/>
            <a:ext cx="698500" cy="342900"/>
          </a:xfrm>
          <a:prstGeom prst="roundRect">
            <a:avLst>
              <a:gd name="adj" fmla="val 50000"/>
            </a:avLst>
          </a:prstGeom>
          <a:solidFill>
            <a:srgbClr val="F3EA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746250" y="5632450"/>
            <a:ext cx="6985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22313F"/>
                </a:solidFill>
                <a:latin typeface="Cascadia Code"/>
              </a:rPr>
              <a:t>HU-35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540000" y="5492750"/>
            <a:ext cx="4445000" cy="622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22313F"/>
                </a:solidFill>
                <a:latin typeface="Segoe UI"/>
              </a:rPr>
              <a:t>Limpiar la base de egresados  👑 Scrum Master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112000" y="5492750"/>
            <a:ext cx="4064000" cy="622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D6B78"/>
                </a:solidFill>
                <a:latin typeface="Segoe UI"/>
              </a:rPr>
              <a:t>Sí/si/SI → True, fechas en 5 formatos y sin duplicados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9000" y="6254750"/>
            <a:ext cx="8255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D6B78"/>
                </a:solidFill>
                <a:latin typeface="Segoe UI"/>
              </a:rPr>
              <a:t>Los BUG van en rojo: desbloquean a los demás, conviene que los tomen quienes tengan más experiencia.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525000" y="6464300"/>
            <a:ext cx="2286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9AA6B2"/>
                </a:solidFill>
                <a:latin typeface="Segoe UI"/>
              </a:rPr>
              <a:t>TalentScope · DataNexo   15/35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6781800"/>
            <a:ext cx="5219700" cy="76200"/>
          </a:xfrm>
          <a:prstGeom prst="rect">
            <a:avLst/>
          </a:prstGeom>
          <a:gradFill rotWithShape="1">
            <a:gsLst>
              <a:gs pos="0">
                <a:srgbClr val="7DD3B0"/>
              </a:gs>
              <a:gs pos="100000">
                <a:srgbClr val="B9A6F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89000" y="571500"/>
            <a:ext cx="825500" cy="825500"/>
          </a:xfrm>
          <a:prstGeom prst="roundRect">
            <a:avLst>
              <a:gd name="adj" fmla="val 27692"/>
            </a:avLst>
          </a:prstGeom>
          <a:solidFill>
            <a:srgbClr val="FFB38A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9000" y="571500"/>
            <a:ext cx="8255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4800" b="0">
                <a:solidFill>
                  <a:srgbClr val="22313F"/>
                </a:solidFill>
                <a:latin typeface="Segoe UI Black"/>
              </a:rPr>
              <a:t>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36750" y="635000"/>
            <a:ext cx="9525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22313F"/>
                </a:solidFill>
                <a:latin typeface="Cascadia Code"/>
              </a:rPr>
              <a:t>SQUAD B · EXCEL DE ALIADOS 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36750" y="889000"/>
            <a:ext cx="9398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22313F"/>
                </a:solidFill>
                <a:latin typeface="Segoe UI Black"/>
              </a:rPr>
              <a:t>El camino hasta el 9 de diciembre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9000" y="1778000"/>
            <a:ext cx="2476500" cy="444500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89000" y="1778000"/>
            <a:ext cx="2476500" cy="762000"/>
          </a:xfrm>
          <a:prstGeom prst="roundRect">
            <a:avLst>
              <a:gd name="adj" fmla="val 33333"/>
            </a:avLst>
          </a:prstGeom>
          <a:solidFill>
            <a:srgbClr val="7DD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89000" y="2159000"/>
            <a:ext cx="2476500" cy="381000"/>
          </a:xfrm>
          <a:prstGeom prst="rect">
            <a:avLst/>
          </a:prstGeom>
          <a:solidFill>
            <a:srgbClr val="7DD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9500" y="1854200"/>
            <a:ext cx="762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22313F"/>
                </a:solidFill>
                <a:latin typeface="Segoe UI Black"/>
              </a:rPr>
              <a:t>S1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78000" y="1905000"/>
            <a:ext cx="1460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200" b="1">
                <a:solidFill>
                  <a:srgbClr val="22313F"/>
                </a:solidFill>
                <a:latin typeface="Segoe UI"/>
              </a:rPr>
              <a:t>15–28 oct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9500" y="2235200"/>
            <a:ext cx="2159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22313F"/>
                </a:solidFill>
                <a:latin typeface="Segoe UI"/>
              </a:rPr>
              <a:t>Arreglar y arrancar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9500" y="2679700"/>
            <a:ext cx="762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C2453A"/>
                </a:solidFill>
                <a:latin typeface="Cascadia Code"/>
              </a:rPr>
              <a:t>BUG-02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9500" y="2857500"/>
            <a:ext cx="2159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22313F"/>
                </a:solidFill>
                <a:latin typeface="Segoe UI"/>
              </a:rPr>
              <a:t>Encabezados de Universidad Andina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9500" y="3263900"/>
            <a:ext cx="762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5D6B78"/>
                </a:solidFill>
                <a:latin typeface="Cascadia Code"/>
              </a:rPr>
              <a:t>HU-31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9500" y="3441700"/>
            <a:ext cx="2159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22313F"/>
                </a:solidFill>
                <a:latin typeface="Segoe UI"/>
              </a:rPr>
              <a:t>Lector de Talentia (hoja por ciudad)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9500" y="3848100"/>
            <a:ext cx="762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C2453A"/>
                </a:solidFill>
                <a:latin typeface="Cascadia Code"/>
              </a:rPr>
              <a:t>BUG-01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9500" y="4025900"/>
            <a:ext cx="2159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22313F"/>
                </a:solidFill>
                <a:latin typeface="Segoe UI"/>
              </a:rPr>
              <a:t>Ciudades escritas de una sola forma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9500" y="4432300"/>
            <a:ext cx="762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5D6B78"/>
                </a:solidFill>
                <a:latin typeface="Cascadia Code"/>
              </a:rPr>
              <a:t>HU-33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9500" y="4610100"/>
            <a:ext cx="2159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22313F"/>
                </a:solidFill>
                <a:latin typeface="Segoe UI"/>
              </a:rPr>
              <a:t>Salarios y experiencia a números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9500" y="5016500"/>
            <a:ext cx="762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5D6B78"/>
                </a:solidFill>
                <a:latin typeface="Cascadia Code"/>
              </a:rPr>
              <a:t>HU-34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9500" y="5194300"/>
            <a:ext cx="2159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22313F"/>
                </a:solidFill>
                <a:latin typeface="Segoe UI"/>
              </a:rPr>
              <a:t>Skills con el catálogo oficial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9500" y="5600700"/>
            <a:ext cx="762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5D6B78"/>
                </a:solidFill>
                <a:latin typeface="Cascadia Code"/>
              </a:rPr>
              <a:t>HU-35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9500" y="5778500"/>
            <a:ext cx="2159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22313F"/>
                </a:solidFill>
                <a:latin typeface="Segoe UI"/>
              </a:rPr>
              <a:t>Limpiar la base de egresados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543300" y="1778000"/>
            <a:ext cx="2476500" cy="444500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543300" y="1778000"/>
            <a:ext cx="2476500" cy="762000"/>
          </a:xfrm>
          <a:prstGeom prst="roundRect">
            <a:avLst>
              <a:gd name="adj" fmla="val 33333"/>
            </a:avLst>
          </a:prstGeom>
          <a:solidFill>
            <a:srgbClr val="8EC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543300" y="2159000"/>
            <a:ext cx="2476500" cy="381000"/>
          </a:xfrm>
          <a:prstGeom prst="rect">
            <a:avLst/>
          </a:prstGeom>
          <a:solidFill>
            <a:srgbClr val="8EC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33800" y="1854200"/>
            <a:ext cx="762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22313F"/>
                </a:solidFill>
                <a:latin typeface="Segoe UI Black"/>
              </a:rPr>
              <a:t>S2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2300" y="1905000"/>
            <a:ext cx="1460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200" b="1">
                <a:solidFill>
                  <a:srgbClr val="22313F"/>
                </a:solidFill>
                <a:latin typeface="Segoe UI"/>
              </a:rPr>
              <a:t>29 oct–11 nov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33800" y="2235200"/>
            <a:ext cx="2159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22313F"/>
                </a:solidFill>
                <a:latin typeface="Segoe UI"/>
              </a:rPr>
              <a:t>Datos confiables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33800" y="2679700"/>
            <a:ext cx="762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5D6B78"/>
                </a:solidFill>
                <a:latin typeface="Cascadia Code"/>
              </a:rPr>
              <a:t>HU-40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33800" y="2857500"/>
            <a:ext cx="2159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22313F"/>
                </a:solidFill>
                <a:latin typeface="Segoe UI"/>
              </a:rPr>
              <a:t>Consolidado de encuestas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33800" y="3263900"/>
            <a:ext cx="762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5D6B78"/>
                </a:solidFill>
                <a:latin typeface="Cascadia Code"/>
              </a:rPr>
              <a:t>HU-41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33800" y="3441700"/>
            <a:ext cx="2159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22313F"/>
                </a:solidFill>
                <a:latin typeface="Segoe UI"/>
              </a:rPr>
              <a:t>Egresados: una hoja por programa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33800" y="3848100"/>
            <a:ext cx="762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5D6B78"/>
                </a:solidFill>
                <a:latin typeface="Cascadia Code"/>
              </a:rPr>
              <a:t>HU-38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33800" y="4025900"/>
            <a:ext cx="2159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22313F"/>
                </a:solidFill>
                <a:latin typeface="Segoe UI"/>
              </a:rPr>
              <a:t>Separar válidas y rechazadas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33800" y="4432300"/>
            <a:ext cx="762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5D6B78"/>
                </a:solidFill>
                <a:latin typeface="Cascadia Code"/>
              </a:rPr>
              <a:t>HU-36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33800" y="4610100"/>
            <a:ext cx="2159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22313F"/>
                </a:solidFill>
                <a:latin typeface="Segoe UI"/>
              </a:rPr>
              <a:t>Reporte de calidad por aliado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33800" y="5016500"/>
            <a:ext cx="762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5D6B78"/>
                </a:solidFill>
                <a:latin typeface="Cascadia Code"/>
              </a:rPr>
              <a:t>HU-39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33800" y="5194300"/>
            <a:ext cx="2159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5D6B78"/>
                </a:solidFill>
                <a:latin typeface="Segoe UI"/>
              </a:rPr>
              <a:t>🔒 Capacidad reservada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97600" y="1778000"/>
            <a:ext cx="2476500" cy="444500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197600" y="1778000"/>
            <a:ext cx="2476500" cy="762000"/>
          </a:xfrm>
          <a:prstGeom prst="roundRect">
            <a:avLst>
              <a:gd name="adj" fmla="val 33333"/>
            </a:avLst>
          </a:prstGeom>
          <a:solidFill>
            <a:srgbClr val="FFD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97600" y="2159000"/>
            <a:ext cx="2476500" cy="381000"/>
          </a:xfrm>
          <a:prstGeom prst="rect">
            <a:avLst/>
          </a:prstGeom>
          <a:solidFill>
            <a:srgbClr val="FFD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88100" y="1854200"/>
            <a:ext cx="762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22313F"/>
                </a:solidFill>
                <a:latin typeface="Segoe UI Black"/>
              </a:rPr>
              <a:t>S3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86600" y="1905000"/>
            <a:ext cx="1460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200" b="1">
                <a:solidFill>
                  <a:srgbClr val="22313F"/>
                </a:solidFill>
                <a:latin typeface="Segoe UI"/>
              </a:rPr>
              <a:t>12–25 nov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88100" y="2235200"/>
            <a:ext cx="2159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22313F"/>
                </a:solidFill>
                <a:latin typeface="Segoe UI"/>
              </a:rPr>
              <a:t>Que corra solo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88100" y="2679700"/>
            <a:ext cx="762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5D6B78"/>
                </a:solidFill>
                <a:latin typeface="Cascadia Code"/>
              </a:rPr>
              <a:t>HU-37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88100" y="2857500"/>
            <a:ext cx="2159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22313F"/>
                </a:solidFill>
                <a:latin typeface="Segoe UI"/>
              </a:rPr>
              <a:t>Todos los Excel de una carpeta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88100" y="3263900"/>
            <a:ext cx="762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5D6B78"/>
                </a:solidFill>
                <a:latin typeface="Cascadia Code"/>
              </a:rPr>
              <a:t>HU-42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88100" y="3441700"/>
            <a:ext cx="2159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22313F"/>
                </a:solidFill>
                <a:latin typeface="Segoe UI"/>
              </a:rPr>
              <a:t>Encontrar el encabezado solo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88100" y="3848100"/>
            <a:ext cx="762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5D6B78"/>
                </a:solidFill>
                <a:latin typeface="Cascadia Code"/>
              </a:rPr>
              <a:t>HU-43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88100" y="4025900"/>
            <a:ext cx="2159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22313F"/>
                </a:solidFill>
                <a:latin typeface="Segoe UI"/>
              </a:rPr>
              <a:t>Tests con Excel de to_excel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88100" y="4432300"/>
            <a:ext cx="762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5D6B78"/>
                </a:solidFill>
                <a:latin typeface="Cascadia Code"/>
              </a:rPr>
              <a:t>HU-44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88100" y="4610100"/>
            <a:ext cx="2159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22313F"/>
                </a:solidFill>
                <a:latin typeface="Segoe UI"/>
              </a:rPr>
              <a:t>Plantilla para los aliados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88100" y="5016500"/>
            <a:ext cx="762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5D6B78"/>
                </a:solidFill>
                <a:latin typeface="Cascadia Code"/>
              </a:rPr>
              <a:t>HU-45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88100" y="5194300"/>
            <a:ext cx="2159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22313F"/>
                </a:solidFill>
                <a:latin typeface="Segoe UI"/>
              </a:rPr>
              <a:t>TRM desde un Excel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88100" y="5600700"/>
            <a:ext cx="762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5D6B78"/>
                </a:solidFill>
                <a:latin typeface="Cascadia Code"/>
              </a:rPr>
              <a:t>HU-46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88100" y="5778500"/>
            <a:ext cx="2159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22313F"/>
                </a:solidFill>
                <a:latin typeface="Segoe UI"/>
              </a:rPr>
              <a:t>Diccionario de datos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851900" y="1778000"/>
            <a:ext cx="2476500" cy="444500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8851900" y="1778000"/>
            <a:ext cx="2476500" cy="762000"/>
          </a:xfrm>
          <a:prstGeom prst="roundRect">
            <a:avLst>
              <a:gd name="adj" fmla="val 33333"/>
            </a:avLst>
          </a:prstGeom>
          <a:solidFill>
            <a:srgbClr val="B9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851900" y="2159000"/>
            <a:ext cx="2476500" cy="381000"/>
          </a:xfrm>
          <a:prstGeom prst="rect">
            <a:avLst/>
          </a:prstGeom>
          <a:solidFill>
            <a:srgbClr val="B9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042400" y="1854200"/>
            <a:ext cx="762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22313F"/>
                </a:solidFill>
                <a:latin typeface="Segoe UI Black"/>
              </a:rPr>
              <a:t>S4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740900" y="1905000"/>
            <a:ext cx="1460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200" b="1">
                <a:solidFill>
                  <a:srgbClr val="22313F"/>
                </a:solidFill>
                <a:latin typeface="Segoe UI"/>
              </a:rPr>
              <a:t>26 nov–9 dic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042400" y="2235200"/>
            <a:ext cx="2159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22313F"/>
                </a:solidFill>
                <a:latin typeface="Segoe UI"/>
              </a:rPr>
              <a:t>Todos juntos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042400" y="2679700"/>
            <a:ext cx="762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5D6B78"/>
                </a:solidFill>
                <a:latin typeface="Cascadia Code"/>
              </a:rPr>
              <a:t>HU-70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042400" y="2857500"/>
            <a:ext cx="2159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22313F"/>
                </a:solidFill>
                <a:latin typeface="Segoe UI"/>
              </a:rPr>
              <a:t>Integración de punta a punta (B1)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042400" y="3263900"/>
            <a:ext cx="762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5D6B78"/>
                </a:solidFill>
                <a:latin typeface="Cascadia Code"/>
              </a:rPr>
              <a:t>HU-71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042400" y="3441700"/>
            <a:ext cx="2159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22313F"/>
                </a:solidFill>
                <a:latin typeface="Segoe UI"/>
              </a:rPr>
              <a:t>QA cruzado con otro squad (B2 y 3)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042400" y="3848100"/>
            <a:ext cx="762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5D6B78"/>
                </a:solidFill>
                <a:latin typeface="Cascadia Code"/>
              </a:rPr>
              <a:t>HU-72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042400" y="4025900"/>
            <a:ext cx="2159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22313F"/>
                </a:solidFill>
                <a:latin typeface="Segoe UI"/>
              </a:rPr>
              <a:t>Manual de operación (B4)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042400" y="4432300"/>
            <a:ext cx="762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5D6B78"/>
                </a:solidFill>
                <a:latin typeface="Cascadia Code"/>
              </a:rPr>
              <a:t>HU-73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042400" y="4610100"/>
            <a:ext cx="2159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22313F"/>
                </a:solidFill>
                <a:latin typeface="Segoe UI"/>
              </a:rPr>
              <a:t>Informe final y demo al cliente (B5)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042400" y="5016500"/>
            <a:ext cx="762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5D6B78"/>
                </a:solidFill>
                <a:latin typeface="Cascadia Code"/>
              </a:rPr>
              <a:t>HU-74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042400" y="5194300"/>
            <a:ext cx="2159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22313F"/>
                </a:solidFill>
                <a:latin typeface="Segoe UI"/>
              </a:rPr>
              <a:t>Limpieza final del código (B6)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525000" y="6464300"/>
            <a:ext cx="2286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9AA6B2"/>
                </a:solidFill>
                <a:latin typeface="Segoe UI"/>
              </a:rPr>
              <a:t>TalentScope · DataNexo   16/35</a:t>
            </a:r>
          </a:p>
        </p:txBody>
      </p:sp>
      <p:sp>
        <p:nvSpPr>
          <p:cNvPr id="75" name="Rectangle 74"/>
          <p:cNvSpPr/>
          <p:nvPr/>
        </p:nvSpPr>
        <p:spPr>
          <a:xfrm>
            <a:off x="0" y="6781800"/>
            <a:ext cx="5568950" cy="76200"/>
          </a:xfrm>
          <a:prstGeom prst="rect">
            <a:avLst/>
          </a:prstGeom>
          <a:gradFill rotWithShape="1">
            <a:gsLst>
              <a:gs pos="0">
                <a:srgbClr val="7DD3B0"/>
              </a:gs>
              <a:gs pos="100000">
                <a:srgbClr val="B9A6F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89000" y="571500"/>
            <a:ext cx="825500" cy="825500"/>
          </a:xfrm>
          <a:prstGeom prst="roundRect">
            <a:avLst>
              <a:gd name="adj" fmla="val 27692"/>
            </a:avLst>
          </a:prstGeom>
          <a:solidFill>
            <a:srgbClr val="7DD3B0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9000" y="571500"/>
            <a:ext cx="8255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4800" b="0">
                <a:solidFill>
                  <a:srgbClr val="22313F"/>
                </a:solidFill>
                <a:latin typeface="Segoe UI Black"/>
              </a:rPr>
              <a:t>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36750" y="635000"/>
            <a:ext cx="9525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22313F"/>
                </a:solidFill>
                <a:latin typeface="Cascadia Code"/>
              </a:rPr>
              <a:t>SQUAD C · ANÁLISIS 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36750" y="889000"/>
            <a:ext cx="9398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22313F"/>
                </a:solidFill>
                <a:latin typeface="Segoe UI Black"/>
              </a:rPr>
              <a:t>Responder con pandas las preguntas del cliente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9000" y="1841500"/>
            <a:ext cx="6350000" cy="1270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11250" y="2095500"/>
            <a:ext cx="762000" cy="762000"/>
          </a:xfrm>
          <a:prstGeom prst="ellipse">
            <a:avLst/>
          </a:prstGeom>
          <a:solidFill>
            <a:srgbClr val="7DD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1250" y="2095500"/>
            <a:ext cx="76200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800" b="0">
                <a:solidFill>
                  <a:srgbClr val="22313F"/>
                </a:solidFill>
                <a:latin typeface="Segoe UI Emoji"/>
              </a:rPr>
              <a:t>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95500" y="2019300"/>
            <a:ext cx="49530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2313F"/>
                </a:solidFill>
                <a:latin typeface="Segoe UI Black"/>
              </a:rPr>
              <a:t>Recibe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95500" y="2362200"/>
            <a:ext cx="49530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5D6B78"/>
                </a:solidFill>
                <a:latin typeface="Segoe UI"/>
              </a:rPr>
              <a:t>Ofertas del Squad A, encuestas y egresados del Squad B. Mientras llegan: los datos de ejemplo de data/sample.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73500" y="3086100"/>
            <a:ext cx="381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5D6B78"/>
                </a:solidFill>
                <a:latin typeface="Segoe UI"/>
              </a:rPr>
              <a:t>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9000" y="3270250"/>
            <a:ext cx="6350000" cy="1270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11250" y="3524250"/>
            <a:ext cx="762000" cy="762000"/>
          </a:xfrm>
          <a:prstGeom prst="ellipse">
            <a:avLst/>
          </a:prstGeom>
          <a:solidFill>
            <a:srgbClr val="7DD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1250" y="3524250"/>
            <a:ext cx="76200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800" b="0">
                <a:solidFill>
                  <a:srgbClr val="22313F"/>
                </a:solidFill>
                <a:latin typeface="Segoe UI Emoji"/>
              </a:rPr>
              <a:t>⚙️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95500" y="3448050"/>
            <a:ext cx="49530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2313F"/>
                </a:solidFill>
                <a:latin typeface="Segoe UI Black"/>
              </a:rPr>
              <a:t>Hace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95500" y="3790950"/>
            <a:ext cx="49530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5D6B78"/>
                </a:solidFill>
                <a:latin typeface="Segoe UI"/>
              </a:rPr>
              <a:t>Calcula los indicadores: skills más pedidas, salarios por rol, ciudades, empleabilidad y brecha por programa.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73500" y="4514850"/>
            <a:ext cx="381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5D6B78"/>
                </a:solidFill>
                <a:latin typeface="Segoe UI"/>
              </a:rPr>
              <a:t>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9000" y="4699000"/>
            <a:ext cx="6350000" cy="1270000"/>
          </a:xfrm>
          <a:prstGeom prst="roundRect">
            <a:avLst>
              <a:gd name="adj" fmla="val 20000"/>
            </a:avLst>
          </a:prstGeom>
          <a:solidFill>
            <a:srgbClr val="1D2A38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11250" y="4953000"/>
            <a:ext cx="762000" cy="762000"/>
          </a:xfrm>
          <a:prstGeom prst="ellipse">
            <a:avLst/>
          </a:prstGeom>
          <a:solidFill>
            <a:srgbClr val="7DD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11250" y="4953000"/>
            <a:ext cx="76200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800" b="0">
                <a:solidFill>
                  <a:srgbClr val="22313F"/>
                </a:solidFill>
                <a:latin typeface="Segoe UI Emoji"/>
              </a:rPr>
              <a:t>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95500" y="4876800"/>
            <a:ext cx="49530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7DD3B0"/>
                </a:solidFill>
                <a:latin typeface="Segoe UI Black"/>
              </a:rPr>
              <a:t>Entrega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95500" y="5219700"/>
            <a:ext cx="49530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D7E3EE"/>
                </a:solidFill>
                <a:latin typeface="Segoe UI"/>
              </a:rPr>
              <a:t>Tablas de indicadores en Excel (top_skills.xlsx, salarios…) → las usa el Squad D. En el Sprint 3, una API Spring Boot.</a:t>
            </a:r>
          </a:p>
        </p:txBody>
      </p:sp>
      <p:pic>
        <p:nvPicPr>
          <p:cNvPr id="23" name="Picture 22" descr="codigo.jpg"/>
          <p:cNvPicPr>
            <a:picLocks noChangeAspect="1"/>
          </p:cNvPicPr>
          <p:nvPr/>
        </p:nvPicPr>
        <p:blipFill>
          <a:blip r:embed="rId3"/>
          <a:srcRect t="12069" b="12069"/>
          <a:stretch>
            <a:fillRect/>
          </a:stretch>
        </p:blipFill>
        <p:spPr>
          <a:xfrm>
            <a:off x="7620000" y="1841500"/>
            <a:ext cx="3683000" cy="2095500"/>
          </a:xfrm>
          <a:prstGeom prst="roundRect">
            <a:avLst>
              <a:gd name="adj" fmla="val 14545"/>
            </a:avLst>
          </a:prstGeom>
          <a:effectLst>
            <a:outerShdw blurRad="317500" dist="114300" dir="5400000" algn="t" rotWithShape="0">
              <a:srgbClr val="22313F">
                <a:alpha val="18000"/>
              </a:srgbClr>
            </a:outerShdw>
          </a:effectLst>
        </p:spPr>
      </p:pic>
      <p:sp>
        <p:nvSpPr>
          <p:cNvPr id="24" name="Rounded Rectangle 23"/>
          <p:cNvSpPr/>
          <p:nvPr/>
        </p:nvSpPr>
        <p:spPr>
          <a:xfrm>
            <a:off x="7620000" y="4127500"/>
            <a:ext cx="3683000" cy="889000"/>
          </a:xfrm>
          <a:prstGeom prst="roundRect">
            <a:avLst>
              <a:gd name="adj" fmla="val 25714"/>
            </a:avLst>
          </a:prstGeom>
          <a:solidFill>
            <a:srgbClr val="FFFFFF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42250" y="4241800"/>
            <a:ext cx="330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>
                <a:solidFill>
                  <a:srgbClr val="22313F"/>
                </a:solidFill>
                <a:latin typeface="Segoe UI Black"/>
              </a:rPr>
              <a:t>🧰 Herramientas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42250" y="4540250"/>
            <a:ext cx="3302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5D6B78"/>
                </a:solidFill>
                <a:latin typeface="Cascadia Code"/>
              </a:rPr>
              <a:t>groupby · explode · value_counts · pivot_table · crosstab · pd.cut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20000" y="5175250"/>
            <a:ext cx="3683000" cy="9525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42250" y="5283200"/>
            <a:ext cx="330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>
                <a:solidFill>
                  <a:srgbClr val="2E8B6A"/>
                </a:solidFill>
                <a:latin typeface="Segoe UI Black"/>
              </a:rPr>
              <a:t>✅ Terminamos cuando…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42250" y="5575300"/>
            <a:ext cx="3302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22313F"/>
                </a:solidFill>
                <a:latin typeface="Segoe UI"/>
              </a:rPr>
              <a:t>Cada pregunta del cliente tiene su tabla, con test, y se exporta con to_excel.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25000" y="6464300"/>
            <a:ext cx="2286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9AA6B2"/>
                </a:solidFill>
                <a:latin typeface="Segoe UI"/>
              </a:rPr>
              <a:t>TalentScope · DataNexo   17/35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781800"/>
            <a:ext cx="5918200" cy="76200"/>
          </a:xfrm>
          <a:prstGeom prst="rect">
            <a:avLst/>
          </a:prstGeom>
          <a:gradFill rotWithShape="1">
            <a:gsLst>
              <a:gs pos="0">
                <a:srgbClr val="7DD3B0"/>
              </a:gs>
              <a:gs pos="100000">
                <a:srgbClr val="B9A6F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89000" y="571500"/>
            <a:ext cx="825500" cy="825500"/>
          </a:xfrm>
          <a:prstGeom prst="roundRect">
            <a:avLst>
              <a:gd name="adj" fmla="val 27692"/>
            </a:avLst>
          </a:prstGeom>
          <a:solidFill>
            <a:srgbClr val="7DD3B0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9000" y="571500"/>
            <a:ext cx="8255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4800" b="0">
                <a:solidFill>
                  <a:srgbClr val="22313F"/>
                </a:solidFill>
                <a:latin typeface="Segoe UI Black"/>
              </a:rPr>
              <a:t>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36750" y="635000"/>
            <a:ext cx="9525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22313F"/>
                </a:solidFill>
                <a:latin typeface="Cascadia Code"/>
              </a:rPr>
              <a:t>SQUAD C · ANÁLISIS 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36750" y="889000"/>
            <a:ext cx="9398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22313F"/>
                </a:solidFill>
                <a:latin typeface="Segoe UI Black"/>
              </a:rPr>
              <a:t>Sprint 1 (15–28 oct): quién hace qué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40000" y="1663700"/>
            <a:ext cx="3302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D6B78"/>
                </a:solidFill>
                <a:latin typeface="Segoe UI Black"/>
              </a:rPr>
              <a:t>Tu HU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12000" y="1663700"/>
            <a:ext cx="4064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D6B78"/>
                </a:solidFill>
                <a:latin typeface="Segoe UI Black"/>
              </a:rPr>
              <a:t>Está lista cuando…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9000" y="1936750"/>
            <a:ext cx="10414000" cy="622300"/>
          </a:xfrm>
          <a:prstGeom prst="roundRect">
            <a:avLst>
              <a:gd name="adj" fmla="val 30612"/>
            </a:avLst>
          </a:prstGeom>
          <a:solidFill>
            <a:srgbClr val="FFFFFF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16000" y="2044700"/>
            <a:ext cx="635000" cy="406400"/>
          </a:xfrm>
          <a:prstGeom prst="roundRect">
            <a:avLst>
              <a:gd name="adj" fmla="val 50000"/>
            </a:avLst>
          </a:prstGeom>
          <a:solidFill>
            <a:srgbClr val="7DD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6000" y="2044700"/>
            <a:ext cx="635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0">
                <a:solidFill>
                  <a:srgbClr val="22313F"/>
                </a:solidFill>
                <a:latin typeface="Segoe UI Black"/>
              </a:rPr>
              <a:t>C1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46250" y="2076450"/>
            <a:ext cx="698500" cy="342900"/>
          </a:xfrm>
          <a:prstGeom prst="roundRect">
            <a:avLst>
              <a:gd name="adj" fmla="val 50000"/>
            </a:avLst>
          </a:prstGeom>
          <a:solidFill>
            <a:srgbClr val="FF8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46250" y="2076450"/>
            <a:ext cx="6985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22313F"/>
                </a:solidFill>
                <a:latin typeface="Cascadia Code"/>
              </a:rPr>
              <a:t>BUG-03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40000" y="1936750"/>
            <a:ext cx="4445000" cy="622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22313F"/>
                </a:solidFill>
                <a:latin typeface="Segoe UI"/>
              </a:rPr>
              <a:t>Ruta del PC de Andrés y conteo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12000" y="1936750"/>
            <a:ext cx="4064000" cy="622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D6B78"/>
                </a:solidFill>
                <a:latin typeface="Segoe UI"/>
              </a:rPr>
              <a:t>Usa config.py, separa skills por | y pasa test_reporte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9000" y="2647950"/>
            <a:ext cx="10414000" cy="622300"/>
          </a:xfrm>
          <a:prstGeom prst="roundRect">
            <a:avLst>
              <a:gd name="adj" fmla="val 30612"/>
            </a:avLst>
          </a:prstGeom>
          <a:solidFill>
            <a:srgbClr val="FFFFFF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16000" y="2755900"/>
            <a:ext cx="635000" cy="406400"/>
          </a:xfrm>
          <a:prstGeom prst="roundRect">
            <a:avLst>
              <a:gd name="adj" fmla="val 50000"/>
            </a:avLst>
          </a:prstGeom>
          <a:solidFill>
            <a:srgbClr val="7DD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16000" y="2755900"/>
            <a:ext cx="635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0">
                <a:solidFill>
                  <a:srgbClr val="22313F"/>
                </a:solidFill>
                <a:latin typeface="Segoe UI Black"/>
              </a:rPr>
              <a:t>C2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746250" y="2787650"/>
            <a:ext cx="698500" cy="342900"/>
          </a:xfrm>
          <a:prstGeom prst="roundRect">
            <a:avLst>
              <a:gd name="adj" fmla="val 50000"/>
            </a:avLst>
          </a:prstGeom>
          <a:solidFill>
            <a:srgbClr val="F3EA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46250" y="2787650"/>
            <a:ext cx="6985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22313F"/>
                </a:solidFill>
                <a:latin typeface="Cascadia Code"/>
              </a:rPr>
              <a:t>HU-50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40000" y="2647950"/>
            <a:ext cx="4445000" cy="622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22313F"/>
                </a:solidFill>
                <a:latin typeface="Segoe UI"/>
              </a:rPr>
              <a:t>Top de skills, general y por rol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12000" y="2647950"/>
            <a:ext cx="4064000" cy="622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D6B78"/>
                </a:solidFill>
                <a:latin typeface="Segoe UI"/>
              </a:rPr>
              <a:t>explode + value_counts → top_skills.xlsx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9000" y="3359150"/>
            <a:ext cx="10414000" cy="622300"/>
          </a:xfrm>
          <a:prstGeom prst="roundRect">
            <a:avLst>
              <a:gd name="adj" fmla="val 30612"/>
            </a:avLst>
          </a:prstGeom>
          <a:solidFill>
            <a:srgbClr val="FFFFFF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16000" y="3467100"/>
            <a:ext cx="635000" cy="406400"/>
          </a:xfrm>
          <a:prstGeom prst="roundRect">
            <a:avLst>
              <a:gd name="adj" fmla="val 50000"/>
            </a:avLst>
          </a:prstGeom>
          <a:solidFill>
            <a:srgbClr val="7DD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16000" y="3467100"/>
            <a:ext cx="635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0">
                <a:solidFill>
                  <a:srgbClr val="22313F"/>
                </a:solidFill>
                <a:latin typeface="Segoe UI Black"/>
              </a:rPr>
              <a:t>C3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746250" y="3498850"/>
            <a:ext cx="698500" cy="342900"/>
          </a:xfrm>
          <a:prstGeom prst="roundRect">
            <a:avLst>
              <a:gd name="adj" fmla="val 50000"/>
            </a:avLst>
          </a:prstGeom>
          <a:solidFill>
            <a:srgbClr val="F3EA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746250" y="3498850"/>
            <a:ext cx="6985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22313F"/>
                </a:solidFill>
                <a:latin typeface="Cascadia Code"/>
              </a:rPr>
              <a:t>HU-51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40000" y="3359150"/>
            <a:ext cx="4445000" cy="622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22313F"/>
                </a:solidFill>
                <a:latin typeface="Segoe UI"/>
              </a:rPr>
              <a:t>Salario por rol y experiencia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12000" y="3359150"/>
            <a:ext cx="4064000" cy="622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D6B78"/>
                </a:solidFill>
                <a:latin typeface="Segoe UI"/>
              </a:rPr>
              <a:t>Mediana, p25 y p75; rangos con pd.cut; pivot a Excel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89000" y="4070350"/>
            <a:ext cx="10414000" cy="622300"/>
          </a:xfrm>
          <a:prstGeom prst="roundRect">
            <a:avLst>
              <a:gd name="adj" fmla="val 30612"/>
            </a:avLst>
          </a:prstGeom>
          <a:solidFill>
            <a:srgbClr val="FFFFFF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16000" y="4178300"/>
            <a:ext cx="635000" cy="406400"/>
          </a:xfrm>
          <a:prstGeom prst="roundRect">
            <a:avLst>
              <a:gd name="adj" fmla="val 50000"/>
            </a:avLst>
          </a:prstGeom>
          <a:solidFill>
            <a:srgbClr val="7DD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6000" y="4178300"/>
            <a:ext cx="635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0">
                <a:solidFill>
                  <a:srgbClr val="22313F"/>
                </a:solidFill>
                <a:latin typeface="Segoe UI Black"/>
              </a:rPr>
              <a:t>C4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746250" y="4210050"/>
            <a:ext cx="698500" cy="342900"/>
          </a:xfrm>
          <a:prstGeom prst="roundRect">
            <a:avLst>
              <a:gd name="adj" fmla="val 50000"/>
            </a:avLst>
          </a:prstGeom>
          <a:solidFill>
            <a:srgbClr val="F3EA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746250" y="4210050"/>
            <a:ext cx="6985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22313F"/>
                </a:solidFill>
                <a:latin typeface="Cascadia Code"/>
              </a:rPr>
              <a:t>HU-52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40000" y="4070350"/>
            <a:ext cx="4445000" cy="622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22313F"/>
                </a:solidFill>
                <a:latin typeface="Segoe UI"/>
              </a:rPr>
              <a:t>Ofertas por ciudad y modalidad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12000" y="4070350"/>
            <a:ext cx="4064000" cy="622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D6B78"/>
                </a:solidFill>
                <a:latin typeface="Segoe UI"/>
              </a:rPr>
              <a:t>crosstab ciudad × modalidad y % de remotas en Excel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89000" y="4781550"/>
            <a:ext cx="10414000" cy="622300"/>
          </a:xfrm>
          <a:prstGeom prst="roundRect">
            <a:avLst>
              <a:gd name="adj" fmla="val 30612"/>
            </a:avLst>
          </a:prstGeom>
          <a:solidFill>
            <a:srgbClr val="FFFFFF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016000" y="4889500"/>
            <a:ext cx="635000" cy="406400"/>
          </a:xfrm>
          <a:prstGeom prst="roundRect">
            <a:avLst>
              <a:gd name="adj" fmla="val 50000"/>
            </a:avLst>
          </a:prstGeom>
          <a:solidFill>
            <a:srgbClr val="7DD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16000" y="4889500"/>
            <a:ext cx="635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0">
                <a:solidFill>
                  <a:srgbClr val="22313F"/>
                </a:solidFill>
                <a:latin typeface="Segoe UI Black"/>
              </a:rPr>
              <a:t>C5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746250" y="4921250"/>
            <a:ext cx="698500" cy="342900"/>
          </a:xfrm>
          <a:prstGeom prst="roundRect">
            <a:avLst>
              <a:gd name="adj" fmla="val 50000"/>
            </a:avLst>
          </a:prstGeom>
          <a:solidFill>
            <a:srgbClr val="F3EA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746250" y="4921250"/>
            <a:ext cx="6985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22313F"/>
                </a:solidFill>
                <a:latin typeface="Cascadia Code"/>
              </a:rPr>
              <a:t>HU-53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40000" y="4781550"/>
            <a:ext cx="4445000" cy="622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22313F"/>
                </a:solidFill>
                <a:latin typeface="Segoe UI"/>
              </a:rPr>
              <a:t>Empleabilidad por programa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12000" y="4781550"/>
            <a:ext cx="4064000" cy="622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D6B78"/>
                </a:solidFill>
                <a:latin typeface="Segoe UI"/>
              </a:rPr>
              <a:t>Tasa % y salario mediano por programa, ordenados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89000" y="5492750"/>
            <a:ext cx="10414000" cy="622300"/>
          </a:xfrm>
          <a:prstGeom prst="roundRect">
            <a:avLst>
              <a:gd name="adj" fmla="val 30612"/>
            </a:avLst>
          </a:prstGeom>
          <a:solidFill>
            <a:srgbClr val="FFFFFF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1016000" y="5600700"/>
            <a:ext cx="635000" cy="406400"/>
          </a:xfrm>
          <a:prstGeom prst="roundRect">
            <a:avLst>
              <a:gd name="adj" fmla="val 50000"/>
            </a:avLst>
          </a:prstGeom>
          <a:solidFill>
            <a:srgbClr val="7DD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16000" y="5600700"/>
            <a:ext cx="635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0">
                <a:solidFill>
                  <a:srgbClr val="22313F"/>
                </a:solidFill>
                <a:latin typeface="Segoe UI Black"/>
              </a:rPr>
              <a:t>C6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746250" y="5632450"/>
            <a:ext cx="698500" cy="342900"/>
          </a:xfrm>
          <a:prstGeom prst="roundRect">
            <a:avLst>
              <a:gd name="adj" fmla="val 50000"/>
            </a:avLst>
          </a:prstGeom>
          <a:solidFill>
            <a:srgbClr val="F3EA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746250" y="5632450"/>
            <a:ext cx="6985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22313F"/>
                </a:solidFill>
                <a:latin typeface="Cascadia Code"/>
              </a:rPr>
              <a:t>HU-54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540000" y="5492750"/>
            <a:ext cx="4445000" cy="622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22313F"/>
                </a:solidFill>
                <a:latin typeface="Segoe UI"/>
              </a:rPr>
              <a:t>¿Qué skill paga más?  👑 Scrum Master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112000" y="5492750"/>
            <a:ext cx="4064000" cy="622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D6B78"/>
                </a:solidFill>
                <a:latin typeface="Segoe UI"/>
              </a:rPr>
              <a:t>Mediana de salario por skill (mínimo 5 ofertas) en Excel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9000" y="6254750"/>
            <a:ext cx="8255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D6B78"/>
                </a:solidFill>
                <a:latin typeface="Segoe UI"/>
              </a:rPr>
              <a:t>Los BUG van en rojo: desbloquean a los demás, conviene que los tomen quienes tengan más experiencia.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525000" y="6464300"/>
            <a:ext cx="2286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9AA6B2"/>
                </a:solidFill>
                <a:latin typeface="Segoe UI"/>
              </a:rPr>
              <a:t>TalentScope · DataNexo   18/35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6781800"/>
            <a:ext cx="6267450" cy="76200"/>
          </a:xfrm>
          <a:prstGeom prst="rect">
            <a:avLst/>
          </a:prstGeom>
          <a:gradFill rotWithShape="1">
            <a:gsLst>
              <a:gs pos="0">
                <a:srgbClr val="7DD3B0"/>
              </a:gs>
              <a:gs pos="100000">
                <a:srgbClr val="B9A6F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89000" y="571500"/>
            <a:ext cx="825500" cy="825500"/>
          </a:xfrm>
          <a:prstGeom prst="roundRect">
            <a:avLst>
              <a:gd name="adj" fmla="val 27692"/>
            </a:avLst>
          </a:prstGeom>
          <a:solidFill>
            <a:srgbClr val="7DD3B0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9000" y="571500"/>
            <a:ext cx="8255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4800" b="0">
                <a:solidFill>
                  <a:srgbClr val="22313F"/>
                </a:solidFill>
                <a:latin typeface="Segoe UI Black"/>
              </a:rPr>
              <a:t>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36750" y="635000"/>
            <a:ext cx="9525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22313F"/>
                </a:solidFill>
                <a:latin typeface="Cascadia Code"/>
              </a:rPr>
              <a:t>SQUAD C · ANÁLISIS 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36750" y="889000"/>
            <a:ext cx="9398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22313F"/>
                </a:solidFill>
                <a:latin typeface="Segoe UI Black"/>
              </a:rPr>
              <a:t>El camino hasta el 9 de diciembre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9000" y="1778000"/>
            <a:ext cx="2476500" cy="444500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89000" y="1778000"/>
            <a:ext cx="2476500" cy="762000"/>
          </a:xfrm>
          <a:prstGeom prst="roundRect">
            <a:avLst>
              <a:gd name="adj" fmla="val 33333"/>
            </a:avLst>
          </a:prstGeom>
          <a:solidFill>
            <a:srgbClr val="7DD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89000" y="2159000"/>
            <a:ext cx="2476500" cy="381000"/>
          </a:xfrm>
          <a:prstGeom prst="rect">
            <a:avLst/>
          </a:prstGeom>
          <a:solidFill>
            <a:srgbClr val="7DD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9500" y="1854200"/>
            <a:ext cx="762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22313F"/>
                </a:solidFill>
                <a:latin typeface="Segoe UI Black"/>
              </a:rPr>
              <a:t>S1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78000" y="1905000"/>
            <a:ext cx="1460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200" b="1">
                <a:solidFill>
                  <a:srgbClr val="22313F"/>
                </a:solidFill>
                <a:latin typeface="Segoe UI"/>
              </a:rPr>
              <a:t>15–28 oct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9500" y="2235200"/>
            <a:ext cx="2159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22313F"/>
                </a:solidFill>
                <a:latin typeface="Segoe UI"/>
              </a:rPr>
              <a:t>Arreglar y arrancar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9500" y="2679700"/>
            <a:ext cx="762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C2453A"/>
                </a:solidFill>
                <a:latin typeface="Cascadia Code"/>
              </a:rPr>
              <a:t>BUG-03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9500" y="2857500"/>
            <a:ext cx="2159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22313F"/>
                </a:solidFill>
                <a:latin typeface="Segoe UI"/>
              </a:rPr>
              <a:t>Ruta del PC de Andrés y conteo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9500" y="3263900"/>
            <a:ext cx="762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5D6B78"/>
                </a:solidFill>
                <a:latin typeface="Cascadia Code"/>
              </a:rPr>
              <a:t>HU-50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9500" y="3441700"/>
            <a:ext cx="2159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22313F"/>
                </a:solidFill>
                <a:latin typeface="Segoe UI"/>
              </a:rPr>
              <a:t>Top de skills, general y por 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9500" y="3848100"/>
            <a:ext cx="762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5D6B78"/>
                </a:solidFill>
                <a:latin typeface="Cascadia Code"/>
              </a:rPr>
              <a:t>HU-51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9500" y="4025900"/>
            <a:ext cx="2159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22313F"/>
                </a:solidFill>
                <a:latin typeface="Segoe UI"/>
              </a:rPr>
              <a:t>Salario por rol y experiencia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9500" y="4432300"/>
            <a:ext cx="762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5D6B78"/>
                </a:solidFill>
                <a:latin typeface="Cascadia Code"/>
              </a:rPr>
              <a:t>HU-52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9500" y="4610100"/>
            <a:ext cx="2159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22313F"/>
                </a:solidFill>
                <a:latin typeface="Segoe UI"/>
              </a:rPr>
              <a:t>Ofertas por ciudad y modalidad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9500" y="5016500"/>
            <a:ext cx="762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5D6B78"/>
                </a:solidFill>
                <a:latin typeface="Cascadia Code"/>
              </a:rPr>
              <a:t>HU-53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9500" y="5194300"/>
            <a:ext cx="2159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22313F"/>
                </a:solidFill>
                <a:latin typeface="Segoe UI"/>
              </a:rPr>
              <a:t>Empleabilidad por programa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9500" y="5600700"/>
            <a:ext cx="762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5D6B78"/>
                </a:solidFill>
                <a:latin typeface="Cascadia Code"/>
              </a:rPr>
              <a:t>HU-54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9500" y="5778500"/>
            <a:ext cx="2159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22313F"/>
                </a:solidFill>
                <a:latin typeface="Segoe UI"/>
              </a:rPr>
              <a:t>¿Qué skill paga más?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543300" y="1778000"/>
            <a:ext cx="2476500" cy="444500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543300" y="1778000"/>
            <a:ext cx="2476500" cy="762000"/>
          </a:xfrm>
          <a:prstGeom prst="roundRect">
            <a:avLst>
              <a:gd name="adj" fmla="val 33333"/>
            </a:avLst>
          </a:prstGeom>
          <a:solidFill>
            <a:srgbClr val="8EC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543300" y="2159000"/>
            <a:ext cx="2476500" cy="381000"/>
          </a:xfrm>
          <a:prstGeom prst="rect">
            <a:avLst/>
          </a:prstGeom>
          <a:solidFill>
            <a:srgbClr val="8EC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33800" y="1854200"/>
            <a:ext cx="762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22313F"/>
                </a:solidFill>
                <a:latin typeface="Segoe UI Black"/>
              </a:rPr>
              <a:t>S2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2300" y="1905000"/>
            <a:ext cx="1460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200" b="1">
                <a:solidFill>
                  <a:srgbClr val="22313F"/>
                </a:solidFill>
                <a:latin typeface="Segoe UI"/>
              </a:rPr>
              <a:t>29 oct–11 nov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33800" y="2235200"/>
            <a:ext cx="2159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22313F"/>
                </a:solidFill>
                <a:latin typeface="Segoe UI"/>
              </a:rPr>
              <a:t>Datos confiables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33800" y="2679700"/>
            <a:ext cx="762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5D6B78"/>
                </a:solidFill>
                <a:latin typeface="Cascadia Code"/>
              </a:rPr>
              <a:t>HU-55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33800" y="2857500"/>
            <a:ext cx="2159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22313F"/>
                </a:solidFill>
                <a:latin typeface="Segoe UI"/>
              </a:rPr>
              <a:t>Brecha: se enseña vs se pide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33800" y="3263900"/>
            <a:ext cx="762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5D6B78"/>
                </a:solidFill>
                <a:latin typeface="Cascadia Code"/>
              </a:rPr>
              <a:t>HU-56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33800" y="3441700"/>
            <a:ext cx="2159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22313F"/>
                </a:solidFill>
                <a:latin typeface="Segoe UI"/>
              </a:rPr>
              <a:t>Salario ofrecido vs reportado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33800" y="3848100"/>
            <a:ext cx="762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5D6B78"/>
                </a:solidFill>
                <a:latin typeface="Cascadia Code"/>
              </a:rPr>
              <a:t>HU-57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33800" y="4025900"/>
            <a:ext cx="2159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22313F"/>
                </a:solidFill>
                <a:latin typeface="Segoe UI"/>
              </a:rPr>
              <a:t>Skills que van juntas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33800" y="4432300"/>
            <a:ext cx="762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5D6B78"/>
                </a:solidFill>
                <a:latin typeface="Cascadia Code"/>
              </a:rPr>
              <a:t>HU-58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33800" y="4610100"/>
            <a:ext cx="2159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22313F"/>
                </a:solidFill>
                <a:latin typeface="Segoe UI"/>
              </a:rPr>
              <a:t>¿Qué piden a un junior?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33800" y="5016500"/>
            <a:ext cx="762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5D6B78"/>
                </a:solidFill>
                <a:latin typeface="Cascadia Code"/>
              </a:rPr>
              <a:t>HU-59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33800" y="5194300"/>
            <a:ext cx="2159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22313F"/>
                </a:solidFill>
                <a:latin typeface="Segoe UI"/>
              </a:rPr>
              <a:t>Salario por ciudad y modalidad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33800" y="5600700"/>
            <a:ext cx="762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5D6B78"/>
                </a:solidFill>
                <a:latin typeface="Cascadia Code"/>
              </a:rPr>
              <a:t>HU-60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33800" y="5778500"/>
            <a:ext cx="2159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22313F"/>
                </a:solidFill>
                <a:latin typeface="Segoe UI"/>
              </a:rPr>
              <a:t>Libro de indicadores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97600" y="1778000"/>
            <a:ext cx="2476500" cy="444500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197600" y="1778000"/>
            <a:ext cx="2476500" cy="762000"/>
          </a:xfrm>
          <a:prstGeom prst="roundRect">
            <a:avLst>
              <a:gd name="adj" fmla="val 33333"/>
            </a:avLst>
          </a:prstGeom>
          <a:solidFill>
            <a:srgbClr val="FFD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197600" y="2159000"/>
            <a:ext cx="2476500" cy="381000"/>
          </a:xfrm>
          <a:prstGeom prst="rect">
            <a:avLst/>
          </a:prstGeom>
          <a:solidFill>
            <a:srgbClr val="FFD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88100" y="1854200"/>
            <a:ext cx="762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22313F"/>
                </a:solidFill>
                <a:latin typeface="Segoe UI Black"/>
              </a:rPr>
              <a:t>S3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86600" y="1905000"/>
            <a:ext cx="1460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200" b="1">
                <a:solidFill>
                  <a:srgbClr val="22313F"/>
                </a:solidFill>
                <a:latin typeface="Segoe UI"/>
              </a:rPr>
              <a:t>12–25 nov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88100" y="2235200"/>
            <a:ext cx="2159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22313F"/>
                </a:solidFill>
                <a:latin typeface="Segoe UI"/>
              </a:rPr>
              <a:t>Que corra solo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88100" y="2679700"/>
            <a:ext cx="762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5D6B78"/>
                </a:solidFill>
                <a:latin typeface="Cascadia Code"/>
              </a:rPr>
              <a:t>HU-61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88100" y="2857500"/>
            <a:ext cx="2159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22313F"/>
                </a:solidFill>
                <a:latin typeface="Segoe UI"/>
              </a:rPr>
              <a:t>Skills que suben y bajan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88100" y="3263900"/>
            <a:ext cx="762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5D6B78"/>
                </a:solidFill>
                <a:latin typeface="Cascadia Code"/>
              </a:rPr>
              <a:t>HU-62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88100" y="3441700"/>
            <a:ext cx="2159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22313F"/>
                </a:solidFill>
                <a:latin typeface="Segoe UI"/>
              </a:rPr>
              <a:t>Top 5 recomendadas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88100" y="3848100"/>
            <a:ext cx="762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5D6B78"/>
                </a:solidFill>
                <a:latin typeface="Cascadia Code"/>
              </a:rPr>
              <a:t>HU-63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88100" y="4025900"/>
            <a:ext cx="2159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22313F"/>
                </a:solidFill>
                <a:latin typeface="Segoe UI"/>
              </a:rPr>
              <a:t>Empresas que contratan juniors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88100" y="4432300"/>
            <a:ext cx="762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5D6B78"/>
                </a:solidFill>
                <a:latin typeface="Cascadia Code"/>
              </a:rPr>
              <a:t>HU-64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88100" y="4610100"/>
            <a:ext cx="2159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22313F"/>
                </a:solidFill>
                <a:latin typeface="Segoe UI"/>
              </a:rPr>
              <a:t>Tests de los indicadores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88100" y="5016500"/>
            <a:ext cx="762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5D6B78"/>
                </a:solidFill>
                <a:latin typeface="Cascadia Code"/>
              </a:rPr>
              <a:t>HU-65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88100" y="5194300"/>
            <a:ext cx="2159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22313F"/>
                </a:solidFill>
                <a:latin typeface="Segoe UI"/>
              </a:rPr>
              <a:t>API Spring Boot: skills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88100" y="5600700"/>
            <a:ext cx="762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5D6B78"/>
                </a:solidFill>
                <a:latin typeface="Cascadia Code"/>
              </a:rPr>
              <a:t>HU-66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388100" y="5778500"/>
            <a:ext cx="2159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22313F"/>
                </a:solidFill>
                <a:latin typeface="Segoe UI"/>
              </a:rPr>
              <a:t>API Spring Boot: salarios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851900" y="1778000"/>
            <a:ext cx="2476500" cy="444500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8851900" y="1778000"/>
            <a:ext cx="2476500" cy="762000"/>
          </a:xfrm>
          <a:prstGeom prst="roundRect">
            <a:avLst>
              <a:gd name="adj" fmla="val 33333"/>
            </a:avLst>
          </a:prstGeom>
          <a:solidFill>
            <a:srgbClr val="B9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851900" y="2159000"/>
            <a:ext cx="2476500" cy="381000"/>
          </a:xfrm>
          <a:prstGeom prst="rect">
            <a:avLst/>
          </a:prstGeom>
          <a:solidFill>
            <a:srgbClr val="B9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042400" y="1854200"/>
            <a:ext cx="762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22313F"/>
                </a:solidFill>
                <a:latin typeface="Segoe UI Black"/>
              </a:rPr>
              <a:t>S4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740900" y="1905000"/>
            <a:ext cx="1460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200" b="1">
                <a:solidFill>
                  <a:srgbClr val="22313F"/>
                </a:solidFill>
                <a:latin typeface="Segoe UI"/>
              </a:rPr>
              <a:t>26 nov–9 dic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042400" y="2235200"/>
            <a:ext cx="2159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22313F"/>
                </a:solidFill>
                <a:latin typeface="Segoe UI"/>
              </a:rPr>
              <a:t>Todos juntos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042400" y="2679700"/>
            <a:ext cx="762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5D6B78"/>
                </a:solidFill>
                <a:latin typeface="Cascadia Code"/>
              </a:rPr>
              <a:t>HU-70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042400" y="2857500"/>
            <a:ext cx="2159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22313F"/>
                </a:solidFill>
                <a:latin typeface="Segoe UI"/>
              </a:rPr>
              <a:t>Integración de punta a punta (C1)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042400" y="3263900"/>
            <a:ext cx="762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5D6B78"/>
                </a:solidFill>
                <a:latin typeface="Cascadia Code"/>
              </a:rPr>
              <a:t>HU-71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042400" y="3441700"/>
            <a:ext cx="2159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22313F"/>
                </a:solidFill>
                <a:latin typeface="Segoe UI"/>
              </a:rPr>
              <a:t>QA cruzado con otro squad (C2 y 3)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042400" y="3848100"/>
            <a:ext cx="762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5D6B78"/>
                </a:solidFill>
                <a:latin typeface="Cascadia Code"/>
              </a:rPr>
              <a:t>HU-72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042400" y="4025900"/>
            <a:ext cx="2159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22313F"/>
                </a:solidFill>
                <a:latin typeface="Segoe UI"/>
              </a:rPr>
              <a:t>Manual de operación (C4)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042400" y="4432300"/>
            <a:ext cx="762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5D6B78"/>
                </a:solidFill>
                <a:latin typeface="Cascadia Code"/>
              </a:rPr>
              <a:t>HU-73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042400" y="4610100"/>
            <a:ext cx="2159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22313F"/>
                </a:solidFill>
                <a:latin typeface="Segoe UI"/>
              </a:rPr>
              <a:t>Informe final y demo al cliente (C5)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042400" y="5016500"/>
            <a:ext cx="762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5D6B78"/>
                </a:solidFill>
                <a:latin typeface="Cascadia Code"/>
              </a:rPr>
              <a:t>HU-74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042400" y="5194300"/>
            <a:ext cx="2159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22313F"/>
                </a:solidFill>
                <a:latin typeface="Segoe UI"/>
              </a:rPr>
              <a:t>Limpieza final del código (C6)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525000" y="6464300"/>
            <a:ext cx="2286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9AA6B2"/>
                </a:solidFill>
                <a:latin typeface="Segoe UI"/>
              </a:rPr>
              <a:t>TalentScope · DataNexo   19/35</a:t>
            </a:r>
          </a:p>
        </p:txBody>
      </p:sp>
      <p:sp>
        <p:nvSpPr>
          <p:cNvPr id="77" name="Rectangle 76"/>
          <p:cNvSpPr/>
          <p:nvPr/>
        </p:nvSpPr>
        <p:spPr>
          <a:xfrm>
            <a:off x="0" y="6781800"/>
            <a:ext cx="6616700" cy="76200"/>
          </a:xfrm>
          <a:prstGeom prst="rect">
            <a:avLst/>
          </a:prstGeom>
          <a:gradFill rotWithShape="1">
            <a:gsLst>
              <a:gs pos="0">
                <a:srgbClr val="7DD3B0"/>
              </a:gs>
              <a:gs pos="100000">
                <a:srgbClr val="B9A6F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89000" y="571500"/>
            <a:ext cx="825500" cy="825500"/>
          </a:xfrm>
          <a:prstGeom prst="roundRect">
            <a:avLst>
              <a:gd name="adj" fmla="val 27692"/>
            </a:avLst>
          </a:prstGeom>
          <a:solidFill>
            <a:srgbClr val="B9A6FF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9000" y="571500"/>
            <a:ext cx="8255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4800" b="0">
                <a:solidFill>
                  <a:srgbClr val="22313F"/>
                </a:solidFill>
                <a:latin typeface="Segoe UI Black"/>
              </a:rPr>
              <a:t>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36750" y="635000"/>
            <a:ext cx="9525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22313F"/>
                </a:solidFill>
                <a:latin typeface="Cascadia Code"/>
              </a:rPr>
              <a:t>SQUAD D · REPORTES Y AUTOMATIZACIÓN 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36750" y="889000"/>
            <a:ext cx="9398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22313F"/>
                </a:solidFill>
                <a:latin typeface="Segoe UI Black"/>
              </a:rPr>
              <a:t>Que el cliente reciba todo listo cada lunes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9000" y="1841500"/>
            <a:ext cx="6350000" cy="1270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11250" y="2095500"/>
            <a:ext cx="762000" cy="762000"/>
          </a:xfrm>
          <a:prstGeom prst="ellipse">
            <a:avLst/>
          </a:prstGeom>
          <a:solidFill>
            <a:srgbClr val="B9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1250" y="2095500"/>
            <a:ext cx="76200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800" b="0">
                <a:solidFill>
                  <a:srgbClr val="22313F"/>
                </a:solidFill>
                <a:latin typeface="Segoe UI Emoji"/>
              </a:rPr>
              <a:t>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95500" y="2019300"/>
            <a:ext cx="49530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2313F"/>
                </a:solidFill>
                <a:latin typeface="Segoe UI Black"/>
              </a:rPr>
              <a:t>Recibe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95500" y="2362200"/>
            <a:ext cx="49530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5D6B78"/>
                </a:solidFill>
                <a:latin typeface="Segoe UI"/>
              </a:rPr>
              <a:t>Las tablas de indicadores del Squad C (mientras tanto, data/sample).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73500" y="3086100"/>
            <a:ext cx="381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5D6B78"/>
                </a:solidFill>
                <a:latin typeface="Segoe UI"/>
              </a:rPr>
              <a:t>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9000" y="3270250"/>
            <a:ext cx="6350000" cy="1270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11250" y="3524250"/>
            <a:ext cx="762000" cy="762000"/>
          </a:xfrm>
          <a:prstGeom prst="ellipse">
            <a:avLst/>
          </a:prstGeom>
          <a:solidFill>
            <a:srgbClr val="B9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1250" y="3524250"/>
            <a:ext cx="76200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800" b="0">
                <a:solidFill>
                  <a:srgbClr val="22313F"/>
                </a:solidFill>
                <a:latin typeface="Segoe UI Emoji"/>
              </a:rPr>
              <a:t>⚙️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95500" y="3448050"/>
            <a:ext cx="49530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2313F"/>
                </a:solidFill>
                <a:latin typeface="Segoe UI Black"/>
              </a:rPr>
              <a:t>Hace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95500" y="3790950"/>
            <a:ext cx="49530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5D6B78"/>
                </a:solidFill>
                <a:latin typeface="Segoe UI"/>
              </a:rPr>
              <a:t>Arma gráficos, un Excel de varias hojas y un HTML; agrega logging y un solo comando que corre todo.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73500" y="4514850"/>
            <a:ext cx="381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5D6B78"/>
                </a:solidFill>
                <a:latin typeface="Segoe UI"/>
              </a:rPr>
              <a:t>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9000" y="4699000"/>
            <a:ext cx="6350000" cy="1270000"/>
          </a:xfrm>
          <a:prstGeom prst="roundRect">
            <a:avLst>
              <a:gd name="adj" fmla="val 20000"/>
            </a:avLst>
          </a:prstGeom>
          <a:solidFill>
            <a:srgbClr val="1D2A38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11250" y="4953000"/>
            <a:ext cx="762000" cy="762000"/>
          </a:xfrm>
          <a:prstGeom prst="ellipse">
            <a:avLst/>
          </a:prstGeom>
          <a:solidFill>
            <a:srgbClr val="B9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11250" y="4953000"/>
            <a:ext cx="76200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800" b="0">
                <a:solidFill>
                  <a:srgbClr val="22313F"/>
                </a:solidFill>
                <a:latin typeface="Segoe UI Emoji"/>
              </a:rPr>
              <a:t>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95500" y="4876800"/>
            <a:ext cx="49530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7DD3B0"/>
                </a:solidFill>
                <a:latin typeface="Segoe UI Black"/>
              </a:rPr>
              <a:t>Entrega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95500" y="5219700"/>
            <a:ext cx="49530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D7E3EE"/>
                </a:solidFill>
                <a:latin typeface="Segoe UI"/>
              </a:rPr>
              <a:t>reportes/AAAA-MM-DD/ con reporte_semanal.xlsx, .html y gráficos → los recibe el cliente.</a:t>
            </a:r>
          </a:p>
        </p:txBody>
      </p:sp>
      <p:pic>
        <p:nvPicPr>
          <p:cNvPr id="23" name="Picture 22" descr="dashboard.jpg"/>
          <p:cNvPicPr>
            <a:picLocks noChangeAspect="1"/>
          </p:cNvPicPr>
          <p:nvPr/>
        </p:nvPicPr>
        <p:blipFill>
          <a:blip r:embed="rId3"/>
          <a:srcRect t="10073" b="10073"/>
          <a:stretch>
            <a:fillRect/>
          </a:stretch>
        </p:blipFill>
        <p:spPr>
          <a:xfrm>
            <a:off x="7620000" y="1841500"/>
            <a:ext cx="3683000" cy="2095500"/>
          </a:xfrm>
          <a:prstGeom prst="roundRect">
            <a:avLst>
              <a:gd name="adj" fmla="val 14545"/>
            </a:avLst>
          </a:prstGeom>
          <a:effectLst>
            <a:outerShdw blurRad="317500" dist="114300" dir="5400000" algn="t" rotWithShape="0">
              <a:srgbClr val="22313F">
                <a:alpha val="18000"/>
              </a:srgbClr>
            </a:outerShdw>
          </a:effectLst>
        </p:spPr>
      </p:pic>
      <p:sp>
        <p:nvSpPr>
          <p:cNvPr id="24" name="Rounded Rectangle 23"/>
          <p:cNvSpPr/>
          <p:nvPr/>
        </p:nvSpPr>
        <p:spPr>
          <a:xfrm>
            <a:off x="7620000" y="4127500"/>
            <a:ext cx="3683000" cy="889000"/>
          </a:xfrm>
          <a:prstGeom prst="roundRect">
            <a:avLst>
              <a:gd name="adj" fmla="val 25714"/>
            </a:avLst>
          </a:prstGeom>
          <a:solidFill>
            <a:srgbClr val="FFFFFF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42250" y="4241800"/>
            <a:ext cx="330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>
                <a:solidFill>
                  <a:srgbClr val="22313F"/>
                </a:solidFill>
                <a:latin typeface="Segoe UI Black"/>
              </a:rPr>
              <a:t>🧰 Herramientas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42250" y="4540250"/>
            <a:ext cx="3302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5D6B78"/>
                </a:solidFill>
                <a:latin typeface="Cascadia Code"/>
              </a:rPr>
              <a:t>matplotlib · pd.ExcelWriter · logging · pathlib · argparse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20000" y="5175250"/>
            <a:ext cx="3683000" cy="952500"/>
          </a:xfrm>
          <a:prstGeom prst="roundRect">
            <a:avLst>
              <a:gd name="adj" fmla="val 24000"/>
            </a:avLst>
          </a:prstGeom>
          <a:solidFill>
            <a:srgbClr val="EEF8F3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42250" y="5283200"/>
            <a:ext cx="330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>
                <a:solidFill>
                  <a:srgbClr val="2E8B6A"/>
                </a:solidFill>
                <a:latin typeface="Segoe UI Black"/>
              </a:rPr>
              <a:t>✅ Terminamos cuando…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42250" y="5575300"/>
            <a:ext cx="3302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22313F"/>
                </a:solidFill>
                <a:latin typeface="Segoe UI"/>
              </a:rPr>
              <a:t>Un solo comando genera el reporte del día y funciona en cualquier computador.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25000" y="6464300"/>
            <a:ext cx="2286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9AA6B2"/>
                </a:solidFill>
                <a:latin typeface="Segoe UI"/>
              </a:rPr>
              <a:t>TalentScope · DataNexo   20/35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781800"/>
            <a:ext cx="6965950" cy="76200"/>
          </a:xfrm>
          <a:prstGeom prst="rect">
            <a:avLst/>
          </a:prstGeom>
          <a:gradFill rotWithShape="1">
            <a:gsLst>
              <a:gs pos="0">
                <a:srgbClr val="7DD3B0"/>
              </a:gs>
              <a:gs pos="100000">
                <a:srgbClr val="B9A6F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89000" y="571500"/>
            <a:ext cx="825500" cy="825500"/>
          </a:xfrm>
          <a:prstGeom prst="roundRect">
            <a:avLst>
              <a:gd name="adj" fmla="val 27692"/>
            </a:avLst>
          </a:prstGeom>
          <a:solidFill>
            <a:srgbClr val="B9A6FF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9000" y="571500"/>
            <a:ext cx="8255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4800" b="0">
                <a:solidFill>
                  <a:srgbClr val="22313F"/>
                </a:solidFill>
                <a:latin typeface="Segoe UI Black"/>
              </a:rPr>
              <a:t>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36750" y="635000"/>
            <a:ext cx="9525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22313F"/>
                </a:solidFill>
                <a:latin typeface="Cascadia Code"/>
              </a:rPr>
              <a:t>SQUAD D · REPORTES Y AUTOMATIZACIÓN 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36750" y="889000"/>
            <a:ext cx="9398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22313F"/>
                </a:solidFill>
                <a:latin typeface="Segoe UI Black"/>
              </a:rPr>
              <a:t>Sprint 1 (15–28 oct): quién hace qué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40000" y="1663700"/>
            <a:ext cx="3302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D6B78"/>
                </a:solidFill>
                <a:latin typeface="Segoe UI Black"/>
              </a:rPr>
              <a:t>Tu HU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12000" y="1663700"/>
            <a:ext cx="4064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D6B78"/>
                </a:solidFill>
                <a:latin typeface="Segoe UI Black"/>
              </a:rPr>
              <a:t>Está lista cuando…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9000" y="1936750"/>
            <a:ext cx="10414000" cy="622300"/>
          </a:xfrm>
          <a:prstGeom prst="roundRect">
            <a:avLst>
              <a:gd name="adj" fmla="val 30612"/>
            </a:avLst>
          </a:prstGeom>
          <a:solidFill>
            <a:srgbClr val="FFFFFF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16000" y="2044700"/>
            <a:ext cx="635000" cy="406400"/>
          </a:xfrm>
          <a:prstGeom prst="roundRect">
            <a:avLst>
              <a:gd name="adj" fmla="val 50000"/>
            </a:avLst>
          </a:prstGeom>
          <a:solidFill>
            <a:srgbClr val="B9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6000" y="2044700"/>
            <a:ext cx="635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0">
                <a:solidFill>
                  <a:srgbClr val="22313F"/>
                </a:solidFill>
                <a:latin typeface="Segoe UI Black"/>
              </a:rPr>
              <a:t>D1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46250" y="2076450"/>
            <a:ext cx="698500" cy="342900"/>
          </a:xfrm>
          <a:prstGeom prst="roundRect">
            <a:avLst>
              <a:gd name="adj" fmla="val 50000"/>
            </a:avLst>
          </a:prstGeom>
          <a:solidFill>
            <a:srgbClr val="F3EA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46250" y="2076450"/>
            <a:ext cx="6985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22313F"/>
                </a:solidFill>
                <a:latin typeface="Cascadia Code"/>
              </a:rPr>
              <a:t>HU-80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40000" y="1936750"/>
            <a:ext cx="4445000" cy="622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22313F"/>
                </a:solidFill>
                <a:latin typeface="Segoe UI"/>
              </a:rPr>
              <a:t>Gráfico de skills más pedidas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12000" y="1936750"/>
            <a:ext cx="4064000" cy="622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D6B78"/>
                </a:solidFill>
                <a:latin typeface="Segoe UI"/>
              </a:rPr>
              <a:t>Barras horizontales con título, ejes y fuente, en PNG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9000" y="2647950"/>
            <a:ext cx="10414000" cy="622300"/>
          </a:xfrm>
          <a:prstGeom prst="roundRect">
            <a:avLst>
              <a:gd name="adj" fmla="val 30612"/>
            </a:avLst>
          </a:prstGeom>
          <a:solidFill>
            <a:srgbClr val="FFFFFF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16000" y="2755900"/>
            <a:ext cx="635000" cy="406400"/>
          </a:xfrm>
          <a:prstGeom prst="roundRect">
            <a:avLst>
              <a:gd name="adj" fmla="val 50000"/>
            </a:avLst>
          </a:prstGeom>
          <a:solidFill>
            <a:srgbClr val="B9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16000" y="2755900"/>
            <a:ext cx="635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0">
                <a:solidFill>
                  <a:srgbClr val="22313F"/>
                </a:solidFill>
                <a:latin typeface="Segoe UI Black"/>
              </a:rPr>
              <a:t>D2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746250" y="2787650"/>
            <a:ext cx="698500" cy="342900"/>
          </a:xfrm>
          <a:prstGeom prst="roundRect">
            <a:avLst>
              <a:gd name="adj" fmla="val 50000"/>
            </a:avLst>
          </a:prstGeom>
          <a:solidFill>
            <a:srgbClr val="F3EA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46250" y="2787650"/>
            <a:ext cx="6985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22313F"/>
                </a:solidFill>
                <a:latin typeface="Cascadia Code"/>
              </a:rPr>
              <a:t>HU-81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40000" y="2647950"/>
            <a:ext cx="4445000" cy="622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22313F"/>
                </a:solidFill>
                <a:latin typeface="Segoe UI"/>
              </a:rPr>
              <a:t>Gráfico de salarios por rol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12000" y="2647950"/>
            <a:ext cx="4064000" cy="622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D6B78"/>
                </a:solidFill>
                <a:latin typeface="Segoe UI"/>
              </a:rPr>
              <a:t>Boxplot ordenado por mediana, eje en millones, en PNG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9000" y="3359150"/>
            <a:ext cx="10414000" cy="622300"/>
          </a:xfrm>
          <a:prstGeom prst="roundRect">
            <a:avLst>
              <a:gd name="adj" fmla="val 30612"/>
            </a:avLst>
          </a:prstGeom>
          <a:solidFill>
            <a:srgbClr val="FFFFFF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16000" y="3467100"/>
            <a:ext cx="635000" cy="406400"/>
          </a:xfrm>
          <a:prstGeom prst="roundRect">
            <a:avLst>
              <a:gd name="adj" fmla="val 50000"/>
            </a:avLst>
          </a:prstGeom>
          <a:solidFill>
            <a:srgbClr val="B9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16000" y="3467100"/>
            <a:ext cx="635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0">
                <a:solidFill>
                  <a:srgbClr val="22313F"/>
                </a:solidFill>
                <a:latin typeface="Segoe UI Black"/>
              </a:rPr>
              <a:t>D3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746250" y="3498850"/>
            <a:ext cx="698500" cy="342900"/>
          </a:xfrm>
          <a:prstGeom prst="roundRect">
            <a:avLst>
              <a:gd name="adj" fmla="val 50000"/>
            </a:avLst>
          </a:prstGeom>
          <a:solidFill>
            <a:srgbClr val="F3EA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746250" y="3498850"/>
            <a:ext cx="6985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22313F"/>
                </a:solidFill>
                <a:latin typeface="Cascadia Code"/>
              </a:rPr>
              <a:t>HU-82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40000" y="3359150"/>
            <a:ext cx="4445000" cy="622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22313F"/>
                </a:solidFill>
                <a:latin typeface="Segoe UI"/>
              </a:rPr>
              <a:t>Reporte semanal en Excel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12000" y="3359150"/>
            <a:ext cx="4064000" cy="622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D6B78"/>
                </a:solidFill>
                <a:latin typeface="Segoe UI"/>
              </a:rPr>
              <a:t>ExcelWriter con hojas Resumen, Top skills, Salarios y Datos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89000" y="4070350"/>
            <a:ext cx="10414000" cy="622300"/>
          </a:xfrm>
          <a:prstGeom prst="roundRect">
            <a:avLst>
              <a:gd name="adj" fmla="val 30612"/>
            </a:avLst>
          </a:prstGeom>
          <a:solidFill>
            <a:srgbClr val="FFFFFF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16000" y="4178300"/>
            <a:ext cx="635000" cy="406400"/>
          </a:xfrm>
          <a:prstGeom prst="roundRect">
            <a:avLst>
              <a:gd name="adj" fmla="val 50000"/>
            </a:avLst>
          </a:prstGeom>
          <a:solidFill>
            <a:srgbClr val="B9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6000" y="4178300"/>
            <a:ext cx="635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0">
                <a:solidFill>
                  <a:srgbClr val="22313F"/>
                </a:solidFill>
                <a:latin typeface="Segoe UI Black"/>
              </a:rPr>
              <a:t>D4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746250" y="4210050"/>
            <a:ext cx="698500" cy="342900"/>
          </a:xfrm>
          <a:prstGeom prst="roundRect">
            <a:avLst>
              <a:gd name="adj" fmla="val 50000"/>
            </a:avLst>
          </a:prstGeom>
          <a:solidFill>
            <a:srgbClr val="F3EA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746250" y="4210050"/>
            <a:ext cx="6985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22313F"/>
                </a:solidFill>
                <a:latin typeface="Cascadia Code"/>
              </a:rPr>
              <a:t>HU-83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40000" y="4070350"/>
            <a:ext cx="4445000" cy="622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22313F"/>
                </a:solidFill>
                <a:latin typeface="Segoe UI"/>
              </a:rPr>
              <a:t>Logging para todo el proyecto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12000" y="4070350"/>
            <a:ext cx="4064000" cy="622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D6B78"/>
                </a:solidFill>
                <a:latin typeface="Segoe UI"/>
              </a:rPr>
              <a:t>Registro en consola y archivo; adiós a los print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89000" y="4781550"/>
            <a:ext cx="10414000" cy="622300"/>
          </a:xfrm>
          <a:prstGeom prst="roundRect">
            <a:avLst>
              <a:gd name="adj" fmla="val 30612"/>
            </a:avLst>
          </a:prstGeom>
          <a:solidFill>
            <a:srgbClr val="FFFFFF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016000" y="4889500"/>
            <a:ext cx="635000" cy="406400"/>
          </a:xfrm>
          <a:prstGeom prst="roundRect">
            <a:avLst>
              <a:gd name="adj" fmla="val 50000"/>
            </a:avLst>
          </a:prstGeom>
          <a:solidFill>
            <a:srgbClr val="B9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16000" y="4889500"/>
            <a:ext cx="635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0">
                <a:solidFill>
                  <a:srgbClr val="22313F"/>
                </a:solidFill>
                <a:latin typeface="Segoe UI Black"/>
              </a:rPr>
              <a:t>D5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746250" y="4921250"/>
            <a:ext cx="698500" cy="342900"/>
          </a:xfrm>
          <a:prstGeom prst="roundRect">
            <a:avLst>
              <a:gd name="adj" fmla="val 50000"/>
            </a:avLst>
          </a:prstGeom>
          <a:solidFill>
            <a:srgbClr val="F3EA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746250" y="4921250"/>
            <a:ext cx="6985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22313F"/>
                </a:solidFill>
                <a:latin typeface="Cascadia Code"/>
              </a:rPr>
              <a:t>HU-84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40000" y="4781550"/>
            <a:ext cx="4445000" cy="622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22313F"/>
                </a:solidFill>
                <a:latin typeface="Segoe UI"/>
              </a:rPr>
              <a:t>Carpeta de reportes por fecha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12000" y="4781550"/>
            <a:ext cx="4064000" cy="622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D6B78"/>
                </a:solidFill>
                <a:latin typeface="Segoe UI"/>
              </a:rPr>
              <a:t>Crea reportes/AAAA-MM-DD/ con pathlib y test con tmp_path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89000" y="5492750"/>
            <a:ext cx="10414000" cy="622300"/>
          </a:xfrm>
          <a:prstGeom prst="roundRect">
            <a:avLst>
              <a:gd name="adj" fmla="val 30612"/>
            </a:avLst>
          </a:prstGeom>
          <a:solidFill>
            <a:srgbClr val="FFFFFF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1016000" y="5600700"/>
            <a:ext cx="635000" cy="406400"/>
          </a:xfrm>
          <a:prstGeom prst="roundRect">
            <a:avLst>
              <a:gd name="adj" fmla="val 50000"/>
            </a:avLst>
          </a:prstGeom>
          <a:solidFill>
            <a:srgbClr val="B9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16000" y="5600700"/>
            <a:ext cx="635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0">
                <a:solidFill>
                  <a:srgbClr val="22313F"/>
                </a:solidFill>
                <a:latin typeface="Segoe UI Black"/>
              </a:rPr>
              <a:t>D6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746250" y="5632450"/>
            <a:ext cx="698500" cy="342900"/>
          </a:xfrm>
          <a:prstGeom prst="roundRect">
            <a:avLst>
              <a:gd name="adj" fmla="val 50000"/>
            </a:avLst>
          </a:prstGeom>
          <a:solidFill>
            <a:srgbClr val="F3EA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746250" y="5632450"/>
            <a:ext cx="6985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22313F"/>
                </a:solidFill>
                <a:latin typeface="Cascadia Code"/>
              </a:rPr>
              <a:t>HU-85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540000" y="5492750"/>
            <a:ext cx="4445000" cy="622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22313F"/>
                </a:solidFill>
                <a:latin typeface="Segoe UI"/>
              </a:rPr>
              <a:t>Instalación paso a paso  👑 Scrum Master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112000" y="5492750"/>
            <a:ext cx="4064000" cy="622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D6B78"/>
                </a:solidFill>
                <a:latin typeface="Segoe UI"/>
              </a:rPr>
              <a:t>instalar.bat probado por alguien de otro squad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9000" y="6254750"/>
            <a:ext cx="8255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D6B78"/>
                </a:solidFill>
                <a:latin typeface="Segoe UI"/>
              </a:rPr>
              <a:t>Los BUG van en rojo: desbloquean a los demás, conviene que los tomen quienes tengan más experiencia.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525000" y="6464300"/>
            <a:ext cx="2286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9AA6B2"/>
                </a:solidFill>
                <a:latin typeface="Segoe UI"/>
              </a:rPr>
              <a:t>TalentScope · DataNexo   21/35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6781800"/>
            <a:ext cx="7315200" cy="76200"/>
          </a:xfrm>
          <a:prstGeom prst="rect">
            <a:avLst/>
          </a:prstGeom>
          <a:gradFill rotWithShape="1">
            <a:gsLst>
              <a:gs pos="0">
                <a:srgbClr val="7DD3B0"/>
              </a:gs>
              <a:gs pos="100000">
                <a:srgbClr val="B9A6F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89000" y="571500"/>
            <a:ext cx="825500" cy="825500"/>
          </a:xfrm>
          <a:prstGeom prst="roundRect">
            <a:avLst>
              <a:gd name="adj" fmla="val 27692"/>
            </a:avLst>
          </a:prstGeom>
          <a:solidFill>
            <a:srgbClr val="B9A6FF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9000" y="571500"/>
            <a:ext cx="8255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4800" b="0">
                <a:solidFill>
                  <a:srgbClr val="22313F"/>
                </a:solidFill>
                <a:latin typeface="Segoe UI Black"/>
              </a:rPr>
              <a:t>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36750" y="635000"/>
            <a:ext cx="9525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22313F"/>
                </a:solidFill>
                <a:latin typeface="Cascadia Code"/>
              </a:rPr>
              <a:t>SQUAD D · REPORTES Y AUTOMATIZACIÓN 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36750" y="889000"/>
            <a:ext cx="9398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22313F"/>
                </a:solidFill>
                <a:latin typeface="Segoe UI Black"/>
              </a:rPr>
              <a:t>El camino hasta el 9 de diciembre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9000" y="1778000"/>
            <a:ext cx="2476500" cy="444500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89000" y="1778000"/>
            <a:ext cx="2476500" cy="762000"/>
          </a:xfrm>
          <a:prstGeom prst="roundRect">
            <a:avLst>
              <a:gd name="adj" fmla="val 33333"/>
            </a:avLst>
          </a:prstGeom>
          <a:solidFill>
            <a:srgbClr val="7DD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89000" y="2159000"/>
            <a:ext cx="2476500" cy="381000"/>
          </a:xfrm>
          <a:prstGeom prst="rect">
            <a:avLst/>
          </a:prstGeom>
          <a:solidFill>
            <a:srgbClr val="7DD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9500" y="1854200"/>
            <a:ext cx="762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22313F"/>
                </a:solidFill>
                <a:latin typeface="Segoe UI Black"/>
              </a:rPr>
              <a:t>S1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78000" y="1905000"/>
            <a:ext cx="1460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200" b="1">
                <a:solidFill>
                  <a:srgbClr val="22313F"/>
                </a:solidFill>
                <a:latin typeface="Segoe UI"/>
              </a:rPr>
              <a:t>15–28 oct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9500" y="2235200"/>
            <a:ext cx="2159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22313F"/>
                </a:solidFill>
                <a:latin typeface="Segoe UI"/>
              </a:rPr>
              <a:t>Arreglar y arrancar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9500" y="2679700"/>
            <a:ext cx="762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5D6B78"/>
                </a:solidFill>
                <a:latin typeface="Cascadia Code"/>
              </a:rPr>
              <a:t>HU-80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9500" y="2857500"/>
            <a:ext cx="2159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22313F"/>
                </a:solidFill>
                <a:latin typeface="Segoe UI"/>
              </a:rPr>
              <a:t>Gráfico de skills más pedidas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9500" y="3263900"/>
            <a:ext cx="762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5D6B78"/>
                </a:solidFill>
                <a:latin typeface="Cascadia Code"/>
              </a:rPr>
              <a:t>HU-81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9500" y="3441700"/>
            <a:ext cx="2159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22313F"/>
                </a:solidFill>
                <a:latin typeface="Segoe UI"/>
              </a:rPr>
              <a:t>Gráfico de salarios por 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9500" y="3848100"/>
            <a:ext cx="762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5D6B78"/>
                </a:solidFill>
                <a:latin typeface="Cascadia Code"/>
              </a:rPr>
              <a:t>HU-82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9500" y="4025900"/>
            <a:ext cx="2159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22313F"/>
                </a:solidFill>
                <a:latin typeface="Segoe UI"/>
              </a:rPr>
              <a:t>Reporte semanal en Excel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9500" y="4432300"/>
            <a:ext cx="762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5D6B78"/>
                </a:solidFill>
                <a:latin typeface="Cascadia Code"/>
              </a:rPr>
              <a:t>HU-83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9500" y="4610100"/>
            <a:ext cx="2159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22313F"/>
                </a:solidFill>
                <a:latin typeface="Segoe UI"/>
              </a:rPr>
              <a:t>Logging para todo el proyecto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9500" y="5016500"/>
            <a:ext cx="762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5D6B78"/>
                </a:solidFill>
                <a:latin typeface="Cascadia Code"/>
              </a:rPr>
              <a:t>HU-84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9500" y="5194300"/>
            <a:ext cx="2159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22313F"/>
                </a:solidFill>
                <a:latin typeface="Segoe UI"/>
              </a:rPr>
              <a:t>Carpeta de reportes por fecha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9500" y="5600700"/>
            <a:ext cx="762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5D6B78"/>
                </a:solidFill>
                <a:latin typeface="Cascadia Code"/>
              </a:rPr>
              <a:t>HU-85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9500" y="5778500"/>
            <a:ext cx="2159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22313F"/>
                </a:solidFill>
                <a:latin typeface="Segoe UI"/>
              </a:rPr>
              <a:t>Instalación paso a paso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543300" y="1778000"/>
            <a:ext cx="2476500" cy="444500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543300" y="1778000"/>
            <a:ext cx="2476500" cy="762000"/>
          </a:xfrm>
          <a:prstGeom prst="roundRect">
            <a:avLst>
              <a:gd name="adj" fmla="val 33333"/>
            </a:avLst>
          </a:prstGeom>
          <a:solidFill>
            <a:srgbClr val="8EC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543300" y="2159000"/>
            <a:ext cx="2476500" cy="381000"/>
          </a:xfrm>
          <a:prstGeom prst="rect">
            <a:avLst/>
          </a:prstGeom>
          <a:solidFill>
            <a:srgbClr val="8EC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33800" y="1854200"/>
            <a:ext cx="762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22313F"/>
                </a:solidFill>
                <a:latin typeface="Segoe UI Black"/>
              </a:rPr>
              <a:t>S2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2300" y="1905000"/>
            <a:ext cx="1460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200" b="1">
                <a:solidFill>
                  <a:srgbClr val="22313F"/>
                </a:solidFill>
                <a:latin typeface="Segoe UI"/>
              </a:rPr>
              <a:t>29 oct–11 nov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33800" y="2235200"/>
            <a:ext cx="2159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22313F"/>
                </a:solidFill>
                <a:latin typeface="Segoe UI"/>
              </a:rPr>
              <a:t>Datos confiables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33800" y="2679700"/>
            <a:ext cx="762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5D6B78"/>
                </a:solidFill>
                <a:latin typeface="Cascadia Code"/>
              </a:rPr>
              <a:t>HU-86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33800" y="2857500"/>
            <a:ext cx="2159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22313F"/>
                </a:solidFill>
                <a:latin typeface="Segoe UI"/>
              </a:rPr>
              <a:t>Reporte semanal en HTML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33800" y="3263900"/>
            <a:ext cx="762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5D6B78"/>
                </a:solidFill>
                <a:latin typeface="Cascadia Code"/>
              </a:rPr>
              <a:t>HU-87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33800" y="3441700"/>
            <a:ext cx="2159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22313F"/>
                </a:solidFill>
                <a:latin typeface="Segoe UI"/>
              </a:rPr>
              <a:t>Hallazgos en texto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33800" y="3848100"/>
            <a:ext cx="762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5D6B78"/>
                </a:solidFill>
                <a:latin typeface="Cascadia Code"/>
              </a:rPr>
              <a:t>HU-88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33800" y="4025900"/>
            <a:ext cx="2159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22313F"/>
                </a:solidFill>
                <a:latin typeface="Segoe UI"/>
              </a:rPr>
              <a:t>Comando “todo”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33800" y="4432300"/>
            <a:ext cx="762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5D6B78"/>
                </a:solidFill>
                <a:latin typeface="Cascadia Code"/>
              </a:rPr>
              <a:t>HU-89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33800" y="4610100"/>
            <a:ext cx="2159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22313F"/>
                </a:solidFill>
                <a:latin typeface="Segoe UI"/>
              </a:rPr>
              <a:t>Bitácora de corridas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33800" y="5016500"/>
            <a:ext cx="762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5D6B78"/>
                </a:solidFill>
                <a:latin typeface="Cascadia Code"/>
              </a:rPr>
              <a:t>HU-90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33800" y="5194300"/>
            <a:ext cx="2159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22313F"/>
                </a:solidFill>
                <a:latin typeface="Segoe UI"/>
              </a:rPr>
              <a:t>Ficha por cargo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33800" y="5600700"/>
            <a:ext cx="762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5D6B78"/>
                </a:solidFill>
                <a:latin typeface="Cascadia Code"/>
              </a:rPr>
              <a:t>HU-91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33800" y="5778500"/>
            <a:ext cx="2159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22313F"/>
                </a:solidFill>
                <a:latin typeface="Segoe UI"/>
              </a:rPr>
              <a:t>Gráfico de empleabilidad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97600" y="1778000"/>
            <a:ext cx="2476500" cy="444500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197600" y="1778000"/>
            <a:ext cx="2476500" cy="762000"/>
          </a:xfrm>
          <a:prstGeom prst="roundRect">
            <a:avLst>
              <a:gd name="adj" fmla="val 33333"/>
            </a:avLst>
          </a:prstGeom>
          <a:solidFill>
            <a:srgbClr val="FFD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197600" y="2159000"/>
            <a:ext cx="2476500" cy="381000"/>
          </a:xfrm>
          <a:prstGeom prst="rect">
            <a:avLst/>
          </a:prstGeom>
          <a:solidFill>
            <a:srgbClr val="FFD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88100" y="1854200"/>
            <a:ext cx="762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22313F"/>
                </a:solidFill>
                <a:latin typeface="Segoe UI Black"/>
              </a:rPr>
              <a:t>S3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86600" y="1905000"/>
            <a:ext cx="1460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200" b="1">
                <a:solidFill>
                  <a:srgbClr val="22313F"/>
                </a:solidFill>
                <a:latin typeface="Segoe UI"/>
              </a:rPr>
              <a:t>12–25 nov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88100" y="2235200"/>
            <a:ext cx="2159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22313F"/>
                </a:solidFill>
                <a:latin typeface="Segoe UI"/>
              </a:rPr>
              <a:t>Que corra solo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88100" y="2679700"/>
            <a:ext cx="762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5D6B78"/>
                </a:solidFill>
                <a:latin typeface="Cascadia Code"/>
              </a:rPr>
              <a:t>HU-92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88100" y="2857500"/>
            <a:ext cx="2159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22313F"/>
                </a:solidFill>
                <a:latin typeface="Segoe UI"/>
              </a:rPr>
              <a:t>Ejecución programada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88100" y="3263900"/>
            <a:ext cx="762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5D6B78"/>
                </a:solidFill>
                <a:latin typeface="Cascadia Code"/>
              </a:rPr>
              <a:t>HU-93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88100" y="3441700"/>
            <a:ext cx="2159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22313F"/>
                </a:solidFill>
                <a:latin typeface="Segoe UI"/>
              </a:rPr>
              <a:t>Archivar reportes viejos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88100" y="3848100"/>
            <a:ext cx="762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5D6B78"/>
                </a:solidFill>
                <a:latin typeface="Cascadia Code"/>
              </a:rPr>
              <a:t>HU-94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88100" y="4025900"/>
            <a:ext cx="2159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22313F"/>
                </a:solidFill>
                <a:latin typeface="Segoe UI"/>
              </a:rPr>
              <a:t>Guardar en SQLite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88100" y="4432300"/>
            <a:ext cx="762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5D6B78"/>
                </a:solidFill>
                <a:latin typeface="Cascadia Code"/>
              </a:rPr>
              <a:t>HU-95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88100" y="4610100"/>
            <a:ext cx="2159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22313F"/>
                </a:solidFill>
                <a:latin typeface="Segoe UI"/>
              </a:rPr>
              <a:t>Mi ruta para cada estudiante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88100" y="5016500"/>
            <a:ext cx="762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5D6B78"/>
                </a:solidFill>
                <a:latin typeface="Cascadia Code"/>
              </a:rPr>
              <a:t>HU-96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88100" y="5194300"/>
            <a:ext cx="2159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22313F"/>
                </a:solidFill>
                <a:latin typeface="Segoe UI"/>
              </a:rPr>
              <a:t>Índice de reportes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88100" y="5600700"/>
            <a:ext cx="762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5D6B78"/>
                </a:solidFill>
                <a:latin typeface="Cascadia Code"/>
              </a:rPr>
              <a:t>HU-97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388100" y="5778500"/>
            <a:ext cx="2159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22313F"/>
                </a:solidFill>
                <a:latin typeface="Segoe UI"/>
              </a:rPr>
              <a:t>Test del pipeline completo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851900" y="1778000"/>
            <a:ext cx="2476500" cy="444500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8851900" y="1778000"/>
            <a:ext cx="2476500" cy="762000"/>
          </a:xfrm>
          <a:prstGeom prst="roundRect">
            <a:avLst>
              <a:gd name="adj" fmla="val 33333"/>
            </a:avLst>
          </a:prstGeom>
          <a:solidFill>
            <a:srgbClr val="B9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851900" y="2159000"/>
            <a:ext cx="2476500" cy="381000"/>
          </a:xfrm>
          <a:prstGeom prst="rect">
            <a:avLst/>
          </a:prstGeom>
          <a:solidFill>
            <a:srgbClr val="B9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042400" y="1854200"/>
            <a:ext cx="762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22313F"/>
                </a:solidFill>
                <a:latin typeface="Segoe UI Black"/>
              </a:rPr>
              <a:t>S4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740900" y="1905000"/>
            <a:ext cx="1460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200" b="1">
                <a:solidFill>
                  <a:srgbClr val="22313F"/>
                </a:solidFill>
                <a:latin typeface="Segoe UI"/>
              </a:rPr>
              <a:t>26 nov–9 dic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042400" y="2235200"/>
            <a:ext cx="2159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22313F"/>
                </a:solidFill>
                <a:latin typeface="Segoe UI"/>
              </a:rPr>
              <a:t>Todos juntos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042400" y="2679700"/>
            <a:ext cx="762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5D6B78"/>
                </a:solidFill>
                <a:latin typeface="Cascadia Code"/>
              </a:rPr>
              <a:t>HU-70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042400" y="2857500"/>
            <a:ext cx="2159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22313F"/>
                </a:solidFill>
                <a:latin typeface="Segoe UI"/>
              </a:rPr>
              <a:t>Integración de punta a punta (D1)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042400" y="3263900"/>
            <a:ext cx="762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5D6B78"/>
                </a:solidFill>
                <a:latin typeface="Cascadia Code"/>
              </a:rPr>
              <a:t>HU-71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042400" y="3441700"/>
            <a:ext cx="2159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22313F"/>
                </a:solidFill>
                <a:latin typeface="Segoe UI"/>
              </a:rPr>
              <a:t>QA cruzado con otro squad (D2 y 3)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042400" y="3848100"/>
            <a:ext cx="762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5D6B78"/>
                </a:solidFill>
                <a:latin typeface="Cascadia Code"/>
              </a:rPr>
              <a:t>HU-72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042400" y="4025900"/>
            <a:ext cx="2159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22313F"/>
                </a:solidFill>
                <a:latin typeface="Segoe UI"/>
              </a:rPr>
              <a:t>Manual de operación (D4)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042400" y="4432300"/>
            <a:ext cx="762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5D6B78"/>
                </a:solidFill>
                <a:latin typeface="Cascadia Code"/>
              </a:rPr>
              <a:t>HU-73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042400" y="4610100"/>
            <a:ext cx="2159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22313F"/>
                </a:solidFill>
                <a:latin typeface="Segoe UI"/>
              </a:rPr>
              <a:t>Informe final y demo al cliente (D5)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042400" y="5016500"/>
            <a:ext cx="762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5D6B78"/>
                </a:solidFill>
                <a:latin typeface="Cascadia Code"/>
              </a:rPr>
              <a:t>HU-74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042400" y="5194300"/>
            <a:ext cx="2159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22313F"/>
                </a:solidFill>
                <a:latin typeface="Segoe UI"/>
              </a:rPr>
              <a:t>Limpieza final del código (D6)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525000" y="6464300"/>
            <a:ext cx="2286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9AA6B2"/>
                </a:solidFill>
                <a:latin typeface="Segoe UI"/>
              </a:rPr>
              <a:t>TalentScope · DataNexo   22/35</a:t>
            </a:r>
          </a:p>
        </p:txBody>
      </p:sp>
      <p:sp>
        <p:nvSpPr>
          <p:cNvPr id="77" name="Rectangle 76"/>
          <p:cNvSpPr/>
          <p:nvPr/>
        </p:nvSpPr>
        <p:spPr>
          <a:xfrm>
            <a:off x="0" y="6781800"/>
            <a:ext cx="7658100" cy="76200"/>
          </a:xfrm>
          <a:prstGeom prst="rect">
            <a:avLst/>
          </a:prstGeom>
          <a:gradFill rotWithShape="1">
            <a:gsLst>
              <a:gs pos="0">
                <a:srgbClr val="7DD3B0"/>
              </a:gs>
              <a:gs pos="100000">
                <a:srgbClr val="B9A6F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89000" y="635000"/>
            <a:ext cx="9525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C2453A"/>
                </a:solidFill>
                <a:latin typeface="Cascadia Code"/>
              </a:rPr>
              <a:t>ASÍ LO QUEREMOS VER EL 9 DE DICIEMBRE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000" y="952500"/>
            <a:ext cx="10414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0">
                <a:solidFill>
                  <a:srgbClr val="22313F"/>
                </a:solidFill>
                <a:latin typeface="Segoe UI Black"/>
              </a:rPr>
              <a:t>Un reporte que responde de verdad 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89000" y="1841500"/>
            <a:ext cx="6096000" cy="4191000"/>
          </a:xfrm>
          <a:prstGeom prst="roundRect">
            <a:avLst>
              <a:gd name="adj" fmla="val 6060"/>
            </a:avLst>
          </a:prstGeom>
          <a:solidFill>
            <a:srgbClr val="FFFFFF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6500" y="2032000"/>
            <a:ext cx="54610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22313F"/>
                </a:solidFill>
                <a:latin typeface="Segoe UI Black"/>
              </a:rPr>
              <a:t>Skills más pedidas en las ofertas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9500" y="2540000"/>
            <a:ext cx="1016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0000"/>
              </a:lnSpc>
            </a:pPr>
            <a:r>
              <a:rPr sz="1400" b="1">
                <a:solidFill>
                  <a:srgbClr val="22313F"/>
                </a:solidFill>
                <a:latin typeface="Segoe UI"/>
              </a:rPr>
              <a:t>Git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22500" y="2578100"/>
            <a:ext cx="3810000" cy="266700"/>
          </a:xfrm>
          <a:prstGeom prst="roundRect">
            <a:avLst>
              <a:gd name="adj" fmla="val 50000"/>
            </a:avLst>
          </a:prstGeom>
          <a:solidFill>
            <a:srgbClr val="F3EA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222500" y="2578100"/>
            <a:ext cx="3810000" cy="266700"/>
          </a:xfrm>
          <a:prstGeom prst="roundRect">
            <a:avLst>
              <a:gd name="adj" fmla="val 50000"/>
            </a:avLst>
          </a:prstGeom>
          <a:solidFill>
            <a:srgbClr val="7DD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7750" y="2540000"/>
            <a:ext cx="6985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5D6B78"/>
                </a:solidFill>
                <a:latin typeface="Segoe UI"/>
              </a:rPr>
              <a:t>31%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500" y="3009900"/>
            <a:ext cx="1016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0000"/>
              </a:lnSpc>
            </a:pPr>
            <a:r>
              <a:rPr sz="1400" b="1">
                <a:solidFill>
                  <a:srgbClr val="22313F"/>
                </a:solidFill>
                <a:latin typeface="Segoe UI"/>
              </a:rPr>
              <a:t>SQL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22500" y="3048000"/>
            <a:ext cx="3810000" cy="266700"/>
          </a:xfrm>
          <a:prstGeom prst="roundRect">
            <a:avLst>
              <a:gd name="adj" fmla="val 50000"/>
            </a:avLst>
          </a:prstGeom>
          <a:solidFill>
            <a:srgbClr val="F3EA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222500" y="3048000"/>
            <a:ext cx="3695700" cy="266700"/>
          </a:xfrm>
          <a:prstGeom prst="roundRect">
            <a:avLst>
              <a:gd name="adj" fmla="val 50000"/>
            </a:avLst>
          </a:prstGeom>
          <a:solidFill>
            <a:srgbClr val="8EC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7750" y="3009900"/>
            <a:ext cx="6985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5D6B78"/>
                </a:solidFill>
                <a:latin typeface="Segoe UI"/>
              </a:rPr>
              <a:t>31%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9500" y="3479800"/>
            <a:ext cx="1016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0000"/>
              </a:lnSpc>
            </a:pPr>
            <a:r>
              <a:rPr sz="1400" b="1">
                <a:solidFill>
                  <a:srgbClr val="22313F"/>
                </a:solidFill>
                <a:latin typeface="Segoe UI"/>
              </a:rPr>
              <a:t>Docker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22500" y="3517900"/>
            <a:ext cx="3810000" cy="266700"/>
          </a:xfrm>
          <a:prstGeom prst="roundRect">
            <a:avLst>
              <a:gd name="adj" fmla="val 50000"/>
            </a:avLst>
          </a:prstGeom>
          <a:solidFill>
            <a:srgbClr val="F3EA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222500" y="3517900"/>
            <a:ext cx="3695700" cy="266700"/>
          </a:xfrm>
          <a:prstGeom prst="roundRect">
            <a:avLst>
              <a:gd name="adj" fmla="val 50000"/>
            </a:avLst>
          </a:prstGeom>
          <a:solidFill>
            <a:srgbClr val="B9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7750" y="3479800"/>
            <a:ext cx="6985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5D6B78"/>
                </a:solidFill>
                <a:latin typeface="Segoe UI"/>
              </a:rPr>
              <a:t>31%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9500" y="3949700"/>
            <a:ext cx="1016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0000"/>
              </a:lnSpc>
            </a:pPr>
            <a:r>
              <a:rPr sz="1400" b="1">
                <a:solidFill>
                  <a:srgbClr val="22313F"/>
                </a:solidFill>
                <a:latin typeface="Segoe UI"/>
              </a:rPr>
              <a:t>Python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222500" y="3987800"/>
            <a:ext cx="3810000" cy="266700"/>
          </a:xfrm>
          <a:prstGeom prst="roundRect">
            <a:avLst>
              <a:gd name="adj" fmla="val 50000"/>
            </a:avLst>
          </a:prstGeom>
          <a:solidFill>
            <a:srgbClr val="F3EA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222500" y="3987800"/>
            <a:ext cx="3619500" cy="266700"/>
          </a:xfrm>
          <a:prstGeom prst="roundRect">
            <a:avLst>
              <a:gd name="adj" fmla="val 50000"/>
            </a:avLst>
          </a:prstGeom>
          <a:solidFill>
            <a:srgbClr val="FFD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7750" y="3949700"/>
            <a:ext cx="6985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5D6B78"/>
                </a:solidFill>
                <a:latin typeface="Segoe UI"/>
              </a:rPr>
              <a:t>30%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9500" y="4419600"/>
            <a:ext cx="1016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0000"/>
              </a:lnSpc>
            </a:pPr>
            <a:r>
              <a:rPr sz="1400" b="1">
                <a:solidFill>
                  <a:srgbClr val="22313F"/>
                </a:solidFill>
                <a:latin typeface="Segoe UI"/>
              </a:rPr>
              <a:t>Linux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222500" y="4457700"/>
            <a:ext cx="3810000" cy="266700"/>
          </a:xfrm>
          <a:prstGeom prst="roundRect">
            <a:avLst>
              <a:gd name="adj" fmla="val 50000"/>
            </a:avLst>
          </a:prstGeom>
          <a:solidFill>
            <a:srgbClr val="F3EA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222500" y="4457700"/>
            <a:ext cx="2895600" cy="266700"/>
          </a:xfrm>
          <a:prstGeom prst="roundRect">
            <a:avLst>
              <a:gd name="adj" fmla="val 50000"/>
            </a:avLst>
          </a:prstGeom>
          <a:solidFill>
            <a:srgbClr val="FFB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7750" y="4419600"/>
            <a:ext cx="6985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5D6B78"/>
                </a:solidFill>
                <a:latin typeface="Segoe UI"/>
              </a:rPr>
              <a:t>24%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9500" y="4889500"/>
            <a:ext cx="1016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0000"/>
              </a:lnSpc>
            </a:pPr>
            <a:r>
              <a:rPr sz="1400" b="1">
                <a:solidFill>
                  <a:srgbClr val="22313F"/>
                </a:solidFill>
                <a:latin typeface="Segoe UI"/>
              </a:rPr>
              <a:t>AWS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222500" y="4927600"/>
            <a:ext cx="3810000" cy="266700"/>
          </a:xfrm>
          <a:prstGeom prst="roundRect">
            <a:avLst>
              <a:gd name="adj" fmla="val 50000"/>
            </a:avLst>
          </a:prstGeom>
          <a:solidFill>
            <a:srgbClr val="F3EA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222500" y="4927600"/>
            <a:ext cx="2667000" cy="266700"/>
          </a:xfrm>
          <a:prstGeom prst="roundRect">
            <a:avLst>
              <a:gd name="adj" fmla="val 50000"/>
            </a:avLst>
          </a:prstGeom>
          <a:solidFill>
            <a:srgbClr val="FF8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27750" y="4889500"/>
            <a:ext cx="6985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5D6B78"/>
                </a:solidFill>
                <a:latin typeface="Segoe UI"/>
              </a:rPr>
              <a:t>22%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9500" y="5359400"/>
            <a:ext cx="1016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0000"/>
              </a:lnSpc>
            </a:pPr>
            <a:r>
              <a:rPr sz="1400" b="1">
                <a:solidFill>
                  <a:srgbClr val="22313F"/>
                </a:solidFill>
                <a:latin typeface="Segoe UI"/>
              </a:rPr>
              <a:t>Pandas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222500" y="5397500"/>
            <a:ext cx="3810000" cy="266700"/>
          </a:xfrm>
          <a:prstGeom prst="roundRect">
            <a:avLst>
              <a:gd name="adj" fmla="val 50000"/>
            </a:avLst>
          </a:prstGeom>
          <a:solidFill>
            <a:srgbClr val="F3EA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2222500" y="5397500"/>
            <a:ext cx="2590800" cy="266700"/>
          </a:xfrm>
          <a:prstGeom prst="roundRect">
            <a:avLst>
              <a:gd name="adj" fmla="val 50000"/>
            </a:avLst>
          </a:prstGeom>
          <a:solidFill>
            <a:srgbClr val="7DD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27750" y="5359400"/>
            <a:ext cx="6985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5D6B78"/>
                </a:solidFill>
                <a:latin typeface="Segoe UI"/>
              </a:rPr>
              <a:t>21%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02500" y="1841500"/>
            <a:ext cx="4000500" cy="1270000"/>
          </a:xfrm>
          <a:prstGeom prst="roundRect">
            <a:avLst>
              <a:gd name="adj" fmla="val 18000"/>
            </a:avLst>
          </a:prstGeom>
          <a:solidFill>
            <a:srgbClr val="FFF6D9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56500" y="1841500"/>
            <a:ext cx="3556000" cy="12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>
                <a:solidFill>
                  <a:srgbClr val="22313F"/>
                </a:solidFill>
                <a:latin typeface="Segoe UI"/>
              </a:rPr>
              <a:t>💰 Las ofertas que piden </a:t>
            </a:r>
            <a:r>
              <a:rPr sz="1450" b="1">
                <a:solidFill>
                  <a:srgbClr val="22313F"/>
                </a:solidFill>
                <a:latin typeface="Segoe UI"/>
              </a:rPr>
              <a:t>Spring Boot</a:t>
            </a:r>
            <a:r>
              <a:rPr sz="1450" b="0">
                <a:solidFill>
                  <a:srgbClr val="22313F"/>
                </a:solidFill>
                <a:latin typeface="Segoe UI"/>
              </a:rPr>
              <a:t> pagan la mediana más alta: </a:t>
            </a:r>
            <a:r>
              <a:rPr sz="1450" b="1">
                <a:solidFill>
                  <a:srgbClr val="22313F"/>
                </a:solidFill>
                <a:latin typeface="Segoe UI"/>
              </a:rPr>
              <a:t>$8.630.000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02500" y="3270250"/>
            <a:ext cx="4000500" cy="1270000"/>
          </a:xfrm>
          <a:prstGeom prst="roundRect">
            <a:avLst>
              <a:gd name="adj" fmla="val 18000"/>
            </a:avLst>
          </a:prstGeom>
          <a:solidFill>
            <a:srgbClr val="EEF8F3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6500" y="3270250"/>
            <a:ext cx="3556000" cy="12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>
                <a:solidFill>
                  <a:srgbClr val="22313F"/>
                </a:solidFill>
                <a:latin typeface="Segoe UI"/>
              </a:rPr>
              <a:t>🌱 Para cargos junior lo más pedido es </a:t>
            </a:r>
            <a:r>
              <a:rPr sz="1450" b="1">
                <a:solidFill>
                  <a:srgbClr val="22313F"/>
                </a:solidFill>
                <a:latin typeface="Segoe UI"/>
              </a:rPr>
              <a:t>Docker, Git y Linux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02500" y="4699000"/>
            <a:ext cx="4000500" cy="1270000"/>
          </a:xfrm>
          <a:prstGeom prst="roundRect">
            <a:avLst>
              <a:gd name="adj" fmla="val 18000"/>
            </a:avLst>
          </a:prstGeom>
          <a:solidFill>
            <a:srgbClr val="F4F0FF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6500" y="4699000"/>
            <a:ext cx="3556000" cy="12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>
                <a:solidFill>
                  <a:srgbClr val="22313F"/>
                </a:solidFill>
                <a:latin typeface="Segoe UI"/>
              </a:rPr>
              <a:t>🎓 </a:t>
            </a:r>
            <a:r>
              <a:rPr sz="1450" b="1">
                <a:solidFill>
                  <a:srgbClr val="22313F"/>
                </a:solidFill>
                <a:latin typeface="Segoe UI"/>
              </a:rPr>
              <a:t>Analítica de Datos</a:t>
            </a:r>
            <a:r>
              <a:rPr sz="1450" b="0">
                <a:solidFill>
                  <a:srgbClr val="22313F"/>
                </a:solidFill>
                <a:latin typeface="Segoe UI"/>
              </a:rPr>
              <a:t> tiene la mayor empleabilidad: </a:t>
            </a:r>
            <a:r>
              <a:rPr sz="1450" b="1">
                <a:solidFill>
                  <a:srgbClr val="22313F"/>
                </a:solidFill>
                <a:latin typeface="Segoe UI"/>
              </a:rPr>
              <a:t>79%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9000" y="6191250"/>
            <a:ext cx="635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9AA6B2"/>
                </a:solidFill>
                <a:latin typeface="Segoe UI"/>
              </a:rPr>
              <a:t>Datos simulados del proyecto · versión de referencia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25000" y="6464300"/>
            <a:ext cx="2286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9AA6B2"/>
                </a:solidFill>
                <a:latin typeface="Segoe UI"/>
              </a:rPr>
              <a:t>TalentScope · DataNexo   23/35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781800"/>
            <a:ext cx="8007350" cy="76200"/>
          </a:xfrm>
          <a:prstGeom prst="rect">
            <a:avLst/>
          </a:prstGeom>
          <a:gradFill rotWithShape="1">
            <a:gsLst>
              <a:gs pos="0">
                <a:srgbClr val="7DD3B0"/>
              </a:gs>
              <a:gs pos="100000">
                <a:srgbClr val="B9A6F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A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762000" y="4826000"/>
            <a:ext cx="2667000" cy="2667000"/>
          </a:xfrm>
          <a:prstGeom prst="ellipse">
            <a:avLst/>
          </a:prstGeom>
          <a:solidFill>
            <a:srgbClr val="2E4A63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9000" y="1524000"/>
            <a:ext cx="9525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FFD86B"/>
                </a:solidFill>
                <a:latin typeface="Cascadia Code"/>
              </a:rPr>
              <a:t>Y ESTO ES PARA 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9000" y="1905000"/>
            <a:ext cx="4826000" cy="873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500" b="0">
                <a:solidFill>
                  <a:srgbClr val="FFF8EE"/>
                </a:solidFill>
                <a:latin typeface="Segoe UI Black"/>
              </a:rPr>
              <a:t>Mi ruta 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9000" y="2984500"/>
            <a:ext cx="4826000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C9D6E2"/>
                </a:solidFill>
                <a:latin typeface="Segoe UI"/>
              </a:rPr>
              <a:t>Le dices tu programa y el cargo que sueñas. Te devuelve un Excel con lo que ya sabes y lo que te falta.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9000" y="4572000"/>
            <a:ext cx="4445000" cy="346710"/>
          </a:xfrm>
          <a:prstGeom prst="roundRect">
            <a:avLst>
              <a:gd name="adj" fmla="val 50000"/>
            </a:avLst>
          </a:prstGeom>
          <a:solidFill>
            <a:srgbClr val="FFD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9000" y="4572000"/>
            <a:ext cx="4445000" cy="3467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22313F"/>
                </a:solidFill>
                <a:latin typeface="Segoe UI"/>
              </a:rPr>
              <a:t>Desarrollo de Software → Ingeniero de Datos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6000" y="1460500"/>
            <a:ext cx="5207000" cy="40640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86500" y="1714500"/>
            <a:ext cx="4826000" cy="546100"/>
          </a:xfrm>
          <a:prstGeom prst="roundRect">
            <a:avLst>
              <a:gd name="adj" fmla="val 23255"/>
            </a:avLst>
          </a:prstGeom>
          <a:solidFill>
            <a:srgbClr val="EE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7000" y="1714500"/>
            <a:ext cx="15875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2E8B6A"/>
                </a:solidFill>
                <a:latin typeface="Segoe UI"/>
              </a:rPr>
              <a:t>Skill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28000" y="1714500"/>
            <a:ext cx="12700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2E8B6A"/>
                </a:solidFill>
                <a:latin typeface="Segoe UI"/>
              </a:rPr>
              <a:t>% ofertas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25000" y="1714500"/>
            <a:ext cx="15240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2E8B6A"/>
                </a:solidFill>
                <a:latin typeface="Segoe UI"/>
              </a:rPr>
              <a:t>¿La ves?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7000" y="2324100"/>
            <a:ext cx="15875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22313F"/>
                </a:solidFill>
                <a:latin typeface="Segoe UI"/>
              </a:rPr>
              <a:t>AWS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28000" y="2324100"/>
            <a:ext cx="12700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22313F"/>
                </a:solidFill>
                <a:latin typeface="Segoe UI"/>
              </a:rPr>
              <a:t>85%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25000" y="2324100"/>
            <a:ext cx="15240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C2453A"/>
                </a:solidFill>
                <a:latin typeface="Segoe UI"/>
              </a:rPr>
              <a:t>Apréndela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0" y="2908300"/>
            <a:ext cx="4699000" cy="12700"/>
          </a:xfrm>
          <a:prstGeom prst="rect">
            <a:avLst/>
          </a:prstGeom>
          <a:solidFill>
            <a:srgbClr val="F0E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77000" y="2933700"/>
            <a:ext cx="15875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22313F"/>
                </a:solidFill>
                <a:latin typeface="Segoe UI"/>
              </a:rPr>
              <a:t>Pandas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28000" y="2933700"/>
            <a:ext cx="12700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22313F"/>
                </a:solidFill>
                <a:latin typeface="Segoe UI"/>
              </a:rPr>
              <a:t>69%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25000" y="2933700"/>
            <a:ext cx="15240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C2453A"/>
                </a:solidFill>
                <a:latin typeface="Segoe UI"/>
              </a:rPr>
              <a:t>Apréndela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0" y="3517900"/>
            <a:ext cx="4699000" cy="12700"/>
          </a:xfrm>
          <a:prstGeom prst="rect">
            <a:avLst/>
          </a:prstGeom>
          <a:solidFill>
            <a:srgbClr val="F0E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7000" y="3543300"/>
            <a:ext cx="15875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22313F"/>
                </a:solidFill>
                <a:latin typeface="Segoe UI"/>
              </a:rPr>
              <a:t>Spark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28000" y="3543300"/>
            <a:ext cx="12700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22313F"/>
                </a:solidFill>
                <a:latin typeface="Segoe UI"/>
              </a:rPr>
              <a:t>62%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25000" y="3543300"/>
            <a:ext cx="15240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C2453A"/>
                </a:solidFill>
                <a:latin typeface="Segoe UI"/>
              </a:rPr>
              <a:t>Apréndela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0" y="4127500"/>
            <a:ext cx="4699000" cy="12700"/>
          </a:xfrm>
          <a:prstGeom prst="rect">
            <a:avLst/>
          </a:prstGeom>
          <a:solidFill>
            <a:srgbClr val="F0E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7000" y="4152900"/>
            <a:ext cx="15875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22313F"/>
                </a:solidFill>
                <a:latin typeface="Segoe UI"/>
              </a:rPr>
              <a:t>Airflow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28000" y="4152900"/>
            <a:ext cx="12700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22313F"/>
                </a:solidFill>
                <a:latin typeface="Segoe UI"/>
              </a:rPr>
              <a:t>46%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25000" y="4152900"/>
            <a:ext cx="15240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C2453A"/>
                </a:solidFill>
                <a:latin typeface="Segoe UI"/>
              </a:rPr>
              <a:t>Apréndela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0000" y="4737100"/>
            <a:ext cx="4699000" cy="12700"/>
          </a:xfrm>
          <a:prstGeom prst="rect">
            <a:avLst/>
          </a:prstGeom>
          <a:solidFill>
            <a:srgbClr val="F0E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77000" y="4762500"/>
            <a:ext cx="15875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22313F"/>
                </a:solidFill>
                <a:latin typeface="Segoe UI"/>
              </a:rPr>
              <a:t>SQL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28000" y="4762500"/>
            <a:ext cx="12700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22313F"/>
                </a:solidFill>
                <a:latin typeface="Segoe UI"/>
              </a:rPr>
              <a:t>31%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25000" y="4762500"/>
            <a:ext cx="15240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2E8B6A"/>
                </a:solidFill>
                <a:latin typeface="Segoe UI"/>
              </a:rPr>
              <a:t>✔ Sí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25000" y="6464300"/>
            <a:ext cx="2286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8FA3B5"/>
                </a:solidFill>
                <a:latin typeface="Segoe UI"/>
              </a:rPr>
              <a:t>TalentScope · DataNexo   24/35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781800"/>
            <a:ext cx="8356600" cy="76200"/>
          </a:xfrm>
          <a:prstGeom prst="rect">
            <a:avLst/>
          </a:prstGeom>
          <a:gradFill rotWithShape="1">
            <a:gsLst>
              <a:gs pos="0">
                <a:srgbClr val="7DD3B0"/>
              </a:gs>
              <a:gs pos="100000">
                <a:srgbClr val="B9A6F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89000" y="1270000"/>
            <a:ext cx="10414000" cy="603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0">
                <a:solidFill>
                  <a:srgbClr val="22313F"/>
                </a:solidFill>
                <a:latin typeface="Segoe UI Black"/>
              </a:rPr>
              <a:t>Cuando esté terminado… ✨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9000" y="2540000"/>
            <a:ext cx="2476500" cy="266700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9000" y="2857500"/>
            <a:ext cx="24765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7000" b="0">
                <a:solidFill>
                  <a:srgbClr val="2E8B6A"/>
                </a:solidFill>
                <a:latin typeface="Segoe UI Black"/>
              </a:rPr>
              <a:t>20 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4191000"/>
            <a:ext cx="1968500" cy="88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50" b="0">
                <a:solidFill>
                  <a:srgbClr val="5D6B78"/>
                </a:solidFill>
                <a:latin typeface="Segoe UI"/>
              </a:rPr>
              <a:t>para correr todo, de punta a punta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56000" y="2540000"/>
            <a:ext cx="2476500" cy="266700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56000" y="2857500"/>
            <a:ext cx="24765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7000" b="0">
                <a:solidFill>
                  <a:srgbClr val="E07A3F"/>
                </a:solidFill>
                <a:latin typeface="Segoe UI Black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10000" y="4191000"/>
            <a:ext cx="1968500" cy="88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50" b="0">
                <a:solidFill>
                  <a:srgbClr val="5D6B78"/>
                </a:solidFill>
                <a:latin typeface="Segoe UI"/>
              </a:rPr>
              <a:t>hojas de Excel, todas con to_excel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23000" y="2540000"/>
            <a:ext cx="2476500" cy="266700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23000" y="2857500"/>
            <a:ext cx="24765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7000" b="0">
                <a:solidFill>
                  <a:srgbClr val="6B54D6"/>
                </a:solidFill>
                <a:latin typeface="Segoe UI Black"/>
              </a:rP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7000" y="4191000"/>
            <a:ext cx="1968500" cy="88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50" b="0">
                <a:solidFill>
                  <a:srgbClr val="5D6B78"/>
                </a:solidFill>
                <a:latin typeface="Segoe UI"/>
              </a:rPr>
              <a:t>fichas, una por cada cargo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90000" y="2540000"/>
            <a:ext cx="2476500" cy="266700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90000" y="2857500"/>
            <a:ext cx="24765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7000" b="0">
                <a:solidFill>
                  <a:srgbClr val="C2453A"/>
                </a:solidFill>
                <a:latin typeface="Segoe UI Black"/>
              </a:rPr>
              <a:t>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4191000"/>
            <a:ext cx="1968500" cy="88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50" b="0">
                <a:solidFill>
                  <a:srgbClr val="5D6B78"/>
                </a:solidFill>
                <a:latin typeface="Segoe UI"/>
              </a:rPr>
              <a:t>filas malas apartadas con su motivo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25000" y="6464300"/>
            <a:ext cx="2286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9AA6B2"/>
                </a:solidFill>
                <a:latin typeface="Segoe UI"/>
              </a:rPr>
              <a:t>TalentScope · DataNexo   25/35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781800"/>
            <a:ext cx="8705850" cy="76200"/>
          </a:xfrm>
          <a:prstGeom prst="rect">
            <a:avLst/>
          </a:prstGeom>
          <a:gradFill rotWithShape="1">
            <a:gsLst>
              <a:gs pos="0">
                <a:srgbClr val="7DD3B0"/>
              </a:gs>
              <a:gs pos="100000">
                <a:srgbClr val="B9A6F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3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89000" y="698500"/>
            <a:ext cx="10414000" cy="603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0">
                <a:solidFill>
                  <a:srgbClr val="22313F"/>
                </a:solidFill>
                <a:latin typeface="Segoe UI Black"/>
              </a:rPr>
              <a:t>8 semanas, 4 sprints 🗓️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651000" y="2190750"/>
            <a:ext cx="8890000" cy="101600"/>
          </a:xfrm>
          <a:prstGeom prst="roundRect">
            <a:avLst>
              <a:gd name="adj" fmla="val 50000"/>
            </a:avLst>
          </a:prstGeom>
          <a:solidFill>
            <a:srgbClr val="F0DF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651000" y="2190750"/>
            <a:ext cx="8890000" cy="1016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DD3B0"/>
              </a:gs>
              <a:gs pos="100000">
                <a:srgbClr val="B9A6F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74750" y="1765300"/>
            <a:ext cx="952500" cy="952500"/>
          </a:xfrm>
          <a:prstGeom prst="ellipse">
            <a:avLst/>
          </a:prstGeom>
          <a:solidFill>
            <a:srgbClr val="7DD3B0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4750" y="1765300"/>
            <a:ext cx="952500" cy="952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800" b="0">
                <a:solidFill>
                  <a:srgbClr val="22313F"/>
                </a:solidFill>
                <a:latin typeface="Segoe UI Black"/>
              </a:rPr>
              <a:t>S1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8000" y="2921000"/>
            <a:ext cx="22860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22313F"/>
                </a:solidFill>
                <a:latin typeface="Segoe UI"/>
              </a:rPr>
              <a:t>15–28 oct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8000" y="3270250"/>
            <a:ext cx="22860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450" b="0">
                <a:solidFill>
                  <a:srgbClr val="5D6B78"/>
                </a:solidFill>
                <a:latin typeface="Segoe UI"/>
              </a:rPr>
              <a:t>Arreglar lo heredado</a:t>
            </a:r>
          </a:p>
        </p:txBody>
      </p:sp>
      <p:sp>
        <p:nvSpPr>
          <p:cNvPr id="9" name="Oval 8"/>
          <p:cNvSpPr/>
          <p:nvPr/>
        </p:nvSpPr>
        <p:spPr>
          <a:xfrm>
            <a:off x="4133850" y="1765300"/>
            <a:ext cx="952500" cy="952500"/>
          </a:xfrm>
          <a:prstGeom prst="ellipse">
            <a:avLst/>
          </a:prstGeom>
          <a:solidFill>
            <a:srgbClr val="8EC9FF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33850" y="1765300"/>
            <a:ext cx="952500" cy="952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800" b="0">
                <a:solidFill>
                  <a:srgbClr val="22313F"/>
                </a:solidFill>
                <a:latin typeface="Segoe UI Black"/>
              </a:rPr>
              <a:t>S2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67100" y="2921000"/>
            <a:ext cx="22860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22313F"/>
                </a:solidFill>
                <a:latin typeface="Segoe UI"/>
              </a:rPr>
              <a:t>29 oct–11 nov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67100" y="3270250"/>
            <a:ext cx="22860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450" b="0">
                <a:solidFill>
                  <a:srgbClr val="5D6B78"/>
                </a:solidFill>
                <a:latin typeface="Segoe UI"/>
              </a:rPr>
              <a:t>Datos confiables</a:t>
            </a:r>
          </a:p>
        </p:txBody>
      </p:sp>
      <p:sp>
        <p:nvSpPr>
          <p:cNvPr id="13" name="Oval 12"/>
          <p:cNvSpPr/>
          <p:nvPr/>
        </p:nvSpPr>
        <p:spPr>
          <a:xfrm>
            <a:off x="7092950" y="1765300"/>
            <a:ext cx="952500" cy="952500"/>
          </a:xfrm>
          <a:prstGeom prst="ellipse">
            <a:avLst/>
          </a:prstGeom>
          <a:solidFill>
            <a:srgbClr val="FFD86B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92950" y="1765300"/>
            <a:ext cx="952500" cy="952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800" b="0">
                <a:solidFill>
                  <a:srgbClr val="22313F"/>
                </a:solidFill>
                <a:latin typeface="Segoe UI Black"/>
              </a:rPr>
              <a:t>S3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6200" y="2921000"/>
            <a:ext cx="22860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22313F"/>
                </a:solidFill>
                <a:latin typeface="Segoe UI"/>
              </a:rPr>
              <a:t>12–25 nov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6200" y="3270250"/>
            <a:ext cx="22860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450" b="0">
                <a:solidFill>
                  <a:srgbClr val="5D6B78"/>
                </a:solidFill>
                <a:latin typeface="Segoe UI"/>
              </a:rPr>
              <a:t>Que corra solo</a:t>
            </a:r>
          </a:p>
        </p:txBody>
      </p:sp>
      <p:sp>
        <p:nvSpPr>
          <p:cNvPr id="17" name="Oval 16"/>
          <p:cNvSpPr/>
          <p:nvPr/>
        </p:nvSpPr>
        <p:spPr>
          <a:xfrm>
            <a:off x="10052050" y="1765300"/>
            <a:ext cx="952500" cy="952500"/>
          </a:xfrm>
          <a:prstGeom prst="ellipse">
            <a:avLst/>
          </a:prstGeom>
          <a:solidFill>
            <a:srgbClr val="B9A6FF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2050" y="1765300"/>
            <a:ext cx="952500" cy="952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800" b="0">
                <a:solidFill>
                  <a:srgbClr val="22313F"/>
                </a:solidFill>
                <a:latin typeface="Segoe UI Black"/>
              </a:rPr>
              <a:t>S4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85300" y="2921000"/>
            <a:ext cx="22860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22313F"/>
                </a:solidFill>
                <a:latin typeface="Segoe UI"/>
              </a:rPr>
              <a:t>26 nov–9 dic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85300" y="3270250"/>
            <a:ext cx="22860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450" b="0">
                <a:solidFill>
                  <a:srgbClr val="5D6B78"/>
                </a:solidFill>
                <a:latin typeface="Segoe UI"/>
              </a:rPr>
              <a:t>Demo final 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9000" y="4318000"/>
            <a:ext cx="10414000" cy="1460500"/>
          </a:xfrm>
          <a:prstGeom prst="roundRect">
            <a:avLst>
              <a:gd name="adj" fmla="val 20869"/>
            </a:avLst>
          </a:prstGeom>
          <a:solidFill>
            <a:srgbClr val="1D2A38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06500" y="4667250"/>
            <a:ext cx="91440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500" b="0">
                <a:solidFill>
                  <a:srgbClr val="22313F"/>
                </a:solidFill>
                <a:latin typeface="Segoe UI Emoji"/>
              </a:rPr>
              <a:t>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4318000"/>
            <a:ext cx="8636000" cy="146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FFF8EE"/>
                </a:solidFill>
                <a:latin typeface="Segoe UI"/>
              </a:rPr>
              <a:t>Ojo: como en la vida real, </a:t>
            </a:r>
            <a:r>
              <a:rPr sz="1800" b="1">
                <a:solidFill>
                  <a:srgbClr val="FFD86B"/>
                </a:solidFill>
                <a:latin typeface="Segoe UI"/>
              </a:rPr>
              <a:t>el cliente va a cambiar de opinión</a:t>
            </a:r>
            <a:r>
              <a:rPr sz="1800" b="0">
                <a:solidFill>
                  <a:srgbClr val="FFF8EE"/>
                </a:solidFill>
                <a:latin typeface="Segoe UI"/>
              </a:rPr>
              <a:t> en algún momento. En el backlog verán “Capacidad reservada”. Estén atentos.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25000" y="6464300"/>
            <a:ext cx="2286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9AA6B2"/>
                </a:solidFill>
                <a:latin typeface="Segoe UI"/>
              </a:rPr>
              <a:t>TalentScope · DataNexo   26/35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781800"/>
            <a:ext cx="9055100" cy="76200"/>
          </a:xfrm>
          <a:prstGeom prst="rect">
            <a:avLst/>
          </a:prstGeom>
          <a:gradFill rotWithShape="1">
            <a:gsLst>
              <a:gs pos="0">
                <a:srgbClr val="7DD3B0"/>
              </a:gs>
              <a:gs pos="100000">
                <a:srgbClr val="B9A6F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89000" y="698500"/>
            <a:ext cx="10414000" cy="603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0">
                <a:solidFill>
                  <a:srgbClr val="22313F"/>
                </a:solidFill>
                <a:latin typeface="Segoe UI Black"/>
              </a:rPr>
              <a:t>Cómo trabajamos en DataNexo 🧑‍💻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9000" y="1778000"/>
            <a:ext cx="5080000" cy="1905000"/>
          </a:xfrm>
          <a:prstGeom prst="roundRect">
            <a:avLst>
              <a:gd name="adj" fmla="val 13333"/>
            </a:avLst>
          </a:prstGeom>
          <a:solidFill>
            <a:srgbClr val="FFF6D9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2095500"/>
            <a:ext cx="772160" cy="675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 b="0">
                <a:solidFill>
                  <a:srgbClr val="22313F"/>
                </a:solidFill>
                <a:latin typeface="Segoe UI Emoji"/>
              </a:rPr>
              <a:t>🗣️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59000" y="2127250"/>
            <a:ext cx="3556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>
                <a:solidFill>
                  <a:srgbClr val="22313F"/>
                </a:solidFill>
                <a:latin typeface="Segoe UI Black"/>
              </a:rPr>
              <a:t>Daily de 10 minutos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59000" y="2635250"/>
            <a:ext cx="3556000" cy="88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5D6B78"/>
                </a:solidFill>
                <a:latin typeface="Segoe UI"/>
              </a:rPr>
              <a:t>Qué hice, qué voy a hacer y qué me bloquea.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23000" y="1778000"/>
            <a:ext cx="5080000" cy="1905000"/>
          </a:xfrm>
          <a:prstGeom prst="roundRect">
            <a:avLst>
              <a:gd name="adj" fmla="val 13333"/>
            </a:avLst>
          </a:prstGeom>
          <a:solidFill>
            <a:srgbClr val="EEF8F3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77000" y="2095500"/>
            <a:ext cx="772160" cy="675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 b="0">
                <a:solidFill>
                  <a:srgbClr val="22313F"/>
                </a:solidFill>
                <a:latin typeface="Segoe UI Emoji"/>
              </a:rPr>
              <a:t>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3000" y="2127250"/>
            <a:ext cx="3556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>
                <a:solidFill>
                  <a:srgbClr val="22313F"/>
                </a:solidFill>
                <a:latin typeface="Segoe UI Black"/>
              </a:rPr>
              <a:t>Tablero en Kaizen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3000" y="2635250"/>
            <a:ext cx="3556000" cy="88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5D6B78"/>
                </a:solidFill>
                <a:latin typeface="Segoe UI"/>
              </a:rPr>
              <a:t>Por hacer → En proceso → Terminado. Si te trabas: Bloqueo.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9000" y="3873500"/>
            <a:ext cx="5080000" cy="1905000"/>
          </a:xfrm>
          <a:prstGeom prst="roundRect">
            <a:avLst>
              <a:gd name="adj" fmla="val 13333"/>
            </a:avLst>
          </a:prstGeom>
          <a:solidFill>
            <a:srgbClr val="F4F0FF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4191000"/>
            <a:ext cx="772160" cy="675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 b="0">
                <a:solidFill>
                  <a:srgbClr val="22313F"/>
                </a:solidFill>
                <a:latin typeface="Segoe UI Emoji"/>
              </a:rPr>
              <a:t>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59000" y="4222750"/>
            <a:ext cx="3556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>
                <a:solidFill>
                  <a:srgbClr val="22313F"/>
                </a:solidFill>
                <a:latin typeface="Segoe UI Black"/>
              </a:rPr>
              <a:t>Pull request y revisión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59000" y="4730750"/>
            <a:ext cx="3556000" cy="88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5D6B78"/>
                </a:solidFill>
                <a:latin typeface="Segoe UI"/>
              </a:rPr>
              <a:t>Nada llega a main sin que un compañero lo revise.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23000" y="3873500"/>
            <a:ext cx="5080000" cy="1905000"/>
          </a:xfrm>
          <a:prstGeom prst="roundRect">
            <a:avLst>
              <a:gd name="adj" fmla="val 13333"/>
            </a:avLst>
          </a:prstGeom>
          <a:solidFill>
            <a:srgbClr val="FFF0E6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7000" y="4191000"/>
            <a:ext cx="772160" cy="675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 b="0">
                <a:solidFill>
                  <a:srgbClr val="22313F"/>
                </a:solidFill>
                <a:latin typeface="Segoe UI Emoji"/>
              </a:rPr>
              <a:t>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3000" y="4222750"/>
            <a:ext cx="3556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>
                <a:solidFill>
                  <a:srgbClr val="22313F"/>
                </a:solidFill>
                <a:latin typeface="Segoe UI Black"/>
              </a:rPr>
              <a:t>“Terminado” significa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3000" y="4730750"/>
            <a:ext cx="3556000" cy="88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5D6B78"/>
                </a:solidFill>
                <a:latin typeface="Segoe UI"/>
              </a:rPr>
              <a:t>Cumple criterios, tiene test, está revisado y documentado.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9000" y="6000750"/>
            <a:ext cx="10414000" cy="444500"/>
          </a:xfrm>
          <a:prstGeom prst="roundRect">
            <a:avLst>
              <a:gd name="adj" fmla="val 50000"/>
            </a:avLst>
          </a:prstGeom>
          <a:solidFill>
            <a:srgbClr val="1D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9000" y="6000750"/>
            <a:ext cx="10414000" cy="444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1">
                <a:solidFill>
                  <a:srgbClr val="FFD86B"/>
                </a:solidFill>
                <a:latin typeface="Segoe UI"/>
              </a:rPr>
              <a:t>Regla de la casa: </a:t>
            </a:r>
            <a:r>
              <a:rPr sz="1500" b="0">
                <a:solidFill>
                  <a:srgbClr val="FFF8EE"/>
                </a:solidFill>
                <a:latin typeface="Segoe UI"/>
              </a:rPr>
              <a:t>todo Excel sale de pandas con </a:t>
            </a:r>
            <a:r>
              <a:rPr sz="1500" b="0">
                <a:solidFill>
                  <a:srgbClr val="7DD3B0"/>
                </a:solidFill>
                <a:latin typeface="Cascadia Code"/>
              </a:rPr>
              <a:t>to_excel</a:t>
            </a:r>
            <a:r>
              <a:rPr sz="1500" b="0">
                <a:solidFill>
                  <a:srgbClr val="FFF8EE"/>
                </a:solidFill>
                <a:latin typeface="Segoe UI"/>
              </a:rPr>
              <a:t> o </a:t>
            </a:r>
            <a:r>
              <a:rPr sz="1500" b="0">
                <a:solidFill>
                  <a:srgbClr val="7DD3B0"/>
                </a:solidFill>
                <a:latin typeface="Cascadia Code"/>
              </a:rPr>
              <a:t>ExcelWriter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25000" y="6464300"/>
            <a:ext cx="2286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9AA6B2"/>
                </a:solidFill>
                <a:latin typeface="Segoe UI"/>
              </a:rPr>
              <a:t>TalentScope · DataNexo   27/35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781800"/>
            <a:ext cx="9404350" cy="76200"/>
          </a:xfrm>
          <a:prstGeom prst="rect">
            <a:avLst/>
          </a:prstGeom>
          <a:gradFill rotWithShape="1">
            <a:gsLst>
              <a:gs pos="0">
                <a:srgbClr val="7DD3B0"/>
              </a:gs>
              <a:gs pos="100000">
                <a:srgbClr val="B9A6F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89000" y="571500"/>
            <a:ext cx="825500" cy="825500"/>
          </a:xfrm>
          <a:prstGeom prst="roundRect">
            <a:avLst>
              <a:gd name="adj" fmla="val 27692"/>
            </a:avLst>
          </a:prstGeom>
          <a:solidFill>
            <a:srgbClr val="7DD3B0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9000" y="571500"/>
            <a:ext cx="8255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4000" b="0">
                <a:solidFill>
                  <a:srgbClr val="22313F"/>
                </a:solidFill>
                <a:latin typeface="Segoe UI Black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36750" y="635000"/>
            <a:ext cx="9525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2E8B6A"/>
                </a:solidFill>
                <a:latin typeface="Cascadia Code"/>
              </a:rPr>
              <a:t>MANOS A LA OBRA · TODOS JUNTOS 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36750" y="889000"/>
            <a:ext cx="9398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22313F"/>
                </a:solidFill>
                <a:latin typeface="Segoe UI Black"/>
              </a:rPr>
              <a:t>Clona el repositorio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9000" y="1587500"/>
            <a:ext cx="104140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5D6B78"/>
                </a:solidFill>
                <a:latin typeface="Segoe UI"/>
              </a:rPr>
              <a:t>Abre “Símbolo del sistema” (cmd) o PowerShell. Escribe cada línea y pulsa Enter.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9000" y="2032000"/>
            <a:ext cx="6350000" cy="546100"/>
          </a:xfrm>
          <a:prstGeom prst="roundRect">
            <a:avLst>
              <a:gd name="adj" fmla="val 25581"/>
            </a:avLst>
          </a:prstGeom>
          <a:solidFill>
            <a:srgbClr val="1D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1250" y="2032000"/>
            <a:ext cx="60325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>
                <a:solidFill>
                  <a:srgbClr val="7DD3B0"/>
                </a:solidFill>
                <a:latin typeface="Cascadia Code"/>
              </a:rPr>
              <a:t>&gt; </a:t>
            </a:r>
            <a:r>
              <a:rPr sz="1350" b="0">
                <a:solidFill>
                  <a:srgbClr val="EAF2F8"/>
                </a:solidFill>
                <a:latin typeface="Cascadia Code"/>
              </a:rPr>
              <a:t>python --version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97750" y="2032000"/>
            <a:ext cx="3905250" cy="546100"/>
          </a:xfrm>
          <a:prstGeom prst="roundRect">
            <a:avLst>
              <a:gd name="adj" fmla="val 25581"/>
            </a:avLst>
          </a:prstGeom>
          <a:solidFill>
            <a:srgbClr val="FFFFFF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8250" y="2032000"/>
            <a:ext cx="358775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D6B78"/>
                </a:solidFill>
                <a:latin typeface="Segoe UI"/>
              </a:rPr>
              <a:t>Debe decir Python 3.10 o más nuevo.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9000" y="2667000"/>
            <a:ext cx="6350000" cy="546100"/>
          </a:xfrm>
          <a:prstGeom prst="roundRect">
            <a:avLst>
              <a:gd name="adj" fmla="val 25581"/>
            </a:avLst>
          </a:prstGeom>
          <a:solidFill>
            <a:srgbClr val="1D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1250" y="2667000"/>
            <a:ext cx="60325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>
                <a:solidFill>
                  <a:srgbClr val="7DD3B0"/>
                </a:solidFill>
                <a:latin typeface="Cascadia Code"/>
              </a:rPr>
              <a:t>&gt; </a:t>
            </a:r>
            <a:r>
              <a:rPr sz="1350" b="0">
                <a:solidFill>
                  <a:srgbClr val="EAF2F8"/>
                </a:solidFill>
                <a:latin typeface="Cascadia Code"/>
              </a:rPr>
              <a:t>git --version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97750" y="2667000"/>
            <a:ext cx="3905250" cy="546100"/>
          </a:xfrm>
          <a:prstGeom prst="roundRect">
            <a:avLst>
              <a:gd name="adj" fmla="val 25581"/>
            </a:avLst>
          </a:prstGeom>
          <a:solidFill>
            <a:srgbClr val="FFFFFF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8250" y="2667000"/>
            <a:ext cx="358775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D6B78"/>
                </a:solidFill>
                <a:latin typeface="Segoe UI"/>
              </a:rPr>
              <a:t>Si no lo reconoce, instala Git o usa el .zip (abajo).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9000" y="3302000"/>
            <a:ext cx="6350000" cy="546100"/>
          </a:xfrm>
          <a:prstGeom prst="roundRect">
            <a:avLst>
              <a:gd name="adj" fmla="val 25581"/>
            </a:avLst>
          </a:prstGeom>
          <a:solidFill>
            <a:srgbClr val="1D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11250" y="3302000"/>
            <a:ext cx="60325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>
                <a:solidFill>
                  <a:srgbClr val="7DD3B0"/>
                </a:solidFill>
                <a:latin typeface="Cascadia Code"/>
              </a:rPr>
              <a:t>&gt; </a:t>
            </a:r>
            <a:r>
              <a:rPr sz="1350" b="0">
                <a:solidFill>
                  <a:srgbClr val="EAF2F8"/>
                </a:solidFill>
                <a:latin typeface="Cascadia Code"/>
              </a:rPr>
              <a:t>git clone [URL]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97750" y="3302000"/>
            <a:ext cx="3905250" cy="546100"/>
          </a:xfrm>
          <a:prstGeom prst="roundRect">
            <a:avLst>
              <a:gd name="adj" fmla="val 25581"/>
            </a:avLst>
          </a:prstGeom>
          <a:solidFill>
            <a:srgbClr val="FFFFFF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8250" y="3302000"/>
            <a:ext cx="358775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D6B78"/>
                </a:solidFill>
                <a:latin typeface="Segoe UI"/>
              </a:rPr>
              <a:t>Descarga el repositorio del proyecto a tu computador.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9000" y="3937000"/>
            <a:ext cx="6350000" cy="546100"/>
          </a:xfrm>
          <a:prstGeom prst="roundRect">
            <a:avLst>
              <a:gd name="adj" fmla="val 25581"/>
            </a:avLst>
          </a:prstGeom>
          <a:solidFill>
            <a:srgbClr val="1D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11250" y="3937000"/>
            <a:ext cx="60325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>
                <a:solidFill>
                  <a:srgbClr val="7DD3B0"/>
                </a:solidFill>
                <a:latin typeface="Cascadia Code"/>
              </a:rPr>
              <a:t>&gt; </a:t>
            </a:r>
            <a:r>
              <a:rPr sz="1350" b="0">
                <a:solidFill>
                  <a:srgbClr val="EAF2F8"/>
                </a:solidFill>
                <a:latin typeface="Cascadia Code"/>
              </a:rPr>
              <a:t>cd talentscope-estudiantes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97750" y="3937000"/>
            <a:ext cx="3905250" cy="546100"/>
          </a:xfrm>
          <a:prstGeom prst="roundRect">
            <a:avLst>
              <a:gd name="adj" fmla="val 25581"/>
            </a:avLst>
          </a:prstGeom>
          <a:solidFill>
            <a:srgbClr val="FFFFFF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8250" y="3937000"/>
            <a:ext cx="358775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D6B78"/>
                </a:solidFill>
                <a:latin typeface="Segoe UI"/>
              </a:rPr>
              <a:t>Entra a la carpeta que se acaba de crear.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9000" y="4572000"/>
            <a:ext cx="6350000" cy="546100"/>
          </a:xfrm>
          <a:prstGeom prst="roundRect">
            <a:avLst>
              <a:gd name="adj" fmla="val 25581"/>
            </a:avLst>
          </a:prstGeom>
          <a:solidFill>
            <a:srgbClr val="1D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11250" y="4572000"/>
            <a:ext cx="60325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>
                <a:solidFill>
                  <a:srgbClr val="7DD3B0"/>
                </a:solidFill>
                <a:latin typeface="Cascadia Code"/>
              </a:rPr>
              <a:t>&gt; </a:t>
            </a:r>
            <a:r>
              <a:rPr sz="1350" b="0">
                <a:solidFill>
                  <a:srgbClr val="EAF2F8"/>
                </a:solidFill>
                <a:latin typeface="Cascadia Code"/>
              </a:rPr>
              <a:t>code 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97750" y="4572000"/>
            <a:ext cx="3905250" cy="546100"/>
          </a:xfrm>
          <a:prstGeom prst="roundRect">
            <a:avLst>
              <a:gd name="adj" fmla="val 25581"/>
            </a:avLst>
          </a:prstGeom>
          <a:solidFill>
            <a:srgbClr val="FFFFFF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8250" y="4572000"/>
            <a:ext cx="358775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D6B78"/>
                </a:solidFill>
                <a:latin typeface="Segoe UI"/>
              </a:rPr>
              <a:t>Abre el proyecto en VS Code. Deja la terminal abierta.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89000" y="5334000"/>
            <a:ext cx="10414000" cy="825500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43000" y="5334000"/>
            <a:ext cx="99060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22313F"/>
                </a:solidFill>
                <a:latin typeface="Segoe UI"/>
              </a:rPr>
              <a:t>📦 ¿Sin Git? </a:t>
            </a:r>
            <a:r>
              <a:rPr sz="1350" b="0">
                <a:solidFill>
                  <a:srgbClr val="5D6B78"/>
                </a:solidFill>
                <a:latin typeface="Segoe UI"/>
              </a:rPr>
              <a:t>Descarga el .zip, descomprímelo y entra con </a:t>
            </a:r>
            <a:r>
              <a:rPr sz="1350" b="0">
                <a:solidFill>
                  <a:srgbClr val="2E8B6A"/>
                </a:solidFill>
                <a:latin typeface="Cascadia Code"/>
              </a:rPr>
              <a:t>cd Descargas\talentscope-estudiantes</a:t>
            </a:r>
            <a:r>
              <a:rPr sz="1350" b="0">
                <a:solidFill>
                  <a:srgbClr val="5D6B78"/>
                </a:solidFill>
                <a:latin typeface="Segoe UI"/>
              </a:rPr>
              <a:t> (ajusta la ruta a donde quedó).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25000" y="6464300"/>
            <a:ext cx="2286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9AA6B2"/>
                </a:solidFill>
                <a:latin typeface="Segoe UI"/>
              </a:rPr>
              <a:t>TalentScope · DataNexo   28/35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781800"/>
            <a:ext cx="9753600" cy="76200"/>
          </a:xfrm>
          <a:prstGeom prst="rect">
            <a:avLst/>
          </a:prstGeom>
          <a:gradFill rotWithShape="1">
            <a:gsLst>
              <a:gs pos="0">
                <a:srgbClr val="7DD3B0"/>
              </a:gs>
              <a:gs pos="100000">
                <a:srgbClr val="B9A6F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89000" y="571500"/>
            <a:ext cx="825500" cy="825500"/>
          </a:xfrm>
          <a:prstGeom prst="roundRect">
            <a:avLst>
              <a:gd name="adj" fmla="val 27692"/>
            </a:avLst>
          </a:prstGeom>
          <a:solidFill>
            <a:srgbClr val="7DD3B0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9000" y="571500"/>
            <a:ext cx="8255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4000" b="0">
                <a:solidFill>
                  <a:srgbClr val="22313F"/>
                </a:solidFill>
                <a:latin typeface="Segoe UI Black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36750" y="635000"/>
            <a:ext cx="9525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2E8B6A"/>
                </a:solidFill>
                <a:latin typeface="Cascadia Code"/>
              </a:rPr>
              <a:t>MANOS A LA OBRA · TODOS JUNTOS 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36750" y="889000"/>
            <a:ext cx="9398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22313F"/>
                </a:solidFill>
                <a:latin typeface="Segoe UI Black"/>
              </a:rPr>
              <a:t>Acabas de clonar: conoce tu repo 🗺️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9000" y="1587500"/>
            <a:ext cx="104140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5D6B78"/>
                </a:solidFill>
                <a:latin typeface="Segoe UI"/>
              </a:rPr>
              <a:t>Esto es lo que hay en la carpeta talentscope-estudiantes.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9000" y="2000250"/>
            <a:ext cx="6350000" cy="508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03300" y="2089150"/>
            <a:ext cx="1778000" cy="330200"/>
          </a:xfrm>
          <a:prstGeom prst="roundRect">
            <a:avLst>
              <a:gd name="adj" fmla="val 50000"/>
            </a:avLst>
          </a:prstGeom>
          <a:solidFill>
            <a:srgbClr val="FFD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3300" y="2089150"/>
            <a:ext cx="1778000" cy="33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22313F"/>
                </a:solidFill>
                <a:latin typeface="Cascadia Code"/>
              </a:rPr>
              <a:t>README.md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1000" y="2000250"/>
            <a:ext cx="41910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D6B78"/>
                </a:solidFill>
                <a:latin typeface="Segoe UI"/>
              </a:rPr>
              <a:t>Empieza aquí: el problema del cliente y lo que dejó el equipo anterior.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9000" y="2584450"/>
            <a:ext cx="6350000" cy="508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03300" y="2673350"/>
            <a:ext cx="1778000" cy="330200"/>
          </a:xfrm>
          <a:prstGeom prst="roundRect">
            <a:avLst>
              <a:gd name="adj" fmla="val 50000"/>
            </a:avLst>
          </a:prstGeom>
          <a:solidFill>
            <a:srgbClr val="FFB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3300" y="2673350"/>
            <a:ext cx="1778000" cy="33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22313F"/>
                </a:solidFill>
                <a:latin typeface="Cascadia Code"/>
              </a:rPr>
              <a:t>material_clase/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1000" y="2584450"/>
            <a:ext cx="41910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D6B78"/>
                </a:solidFill>
                <a:latin typeface="Segoe UI"/>
              </a:rPr>
              <a:t>La presentación, el video, el calendario y los comandos de hoy (LEEME.md).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9000" y="3168650"/>
            <a:ext cx="6350000" cy="508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03300" y="3257550"/>
            <a:ext cx="1778000" cy="330200"/>
          </a:xfrm>
          <a:prstGeom prst="roundRect">
            <a:avLst>
              <a:gd name="adj" fmla="val 50000"/>
            </a:avLst>
          </a:prstGeom>
          <a:solidFill>
            <a:srgbClr val="B9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3300" y="3257550"/>
            <a:ext cx="1778000" cy="33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22313F"/>
                </a:solidFill>
                <a:latin typeface="Cascadia Code"/>
              </a:rPr>
              <a:t>docs/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1000" y="3168650"/>
            <a:ext cx="41910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D6B78"/>
                </a:solidFill>
                <a:latin typeface="Segoe UI"/>
              </a:rPr>
              <a:t>Onboarding, tu HU (BACKLOG.md y tablero.html), contrato de datos y guía técnica.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9000" y="3752850"/>
            <a:ext cx="6350000" cy="508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03300" y="3841750"/>
            <a:ext cx="1778000" cy="330200"/>
          </a:xfrm>
          <a:prstGeom prst="roundRect">
            <a:avLst>
              <a:gd name="adj" fmla="val 50000"/>
            </a:avLst>
          </a:prstGeom>
          <a:solidFill>
            <a:srgbClr val="7DD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3300" y="3841750"/>
            <a:ext cx="1778000" cy="33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22313F"/>
                </a:solidFill>
                <a:latin typeface="Cascadia Code"/>
              </a:rPr>
              <a:t>src/talentscope/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1000" y="3752850"/>
            <a:ext cx="41910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D6B78"/>
                </a:solidFill>
                <a:latin typeface="Segoe UI"/>
              </a:rPr>
              <a:t>El código heredado. Aquí vas a trabajar.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9000" y="4337050"/>
            <a:ext cx="6350000" cy="508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03300" y="4425950"/>
            <a:ext cx="1778000" cy="330200"/>
          </a:xfrm>
          <a:prstGeom prst="roundRect">
            <a:avLst>
              <a:gd name="adj" fmla="val 50000"/>
            </a:avLst>
          </a:prstGeom>
          <a:solidFill>
            <a:srgbClr val="FF8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3300" y="4425950"/>
            <a:ext cx="1778000" cy="33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22313F"/>
                </a:solidFill>
                <a:latin typeface="Cascadia Code"/>
              </a:rPr>
              <a:t>tests/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1000" y="4337050"/>
            <a:ext cx="41910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D6B78"/>
                </a:solidFill>
                <a:latin typeface="Segoe UI"/>
              </a:rPr>
              <a:t>Los tests: hoy 14 en rojo. Tu misión es ponerlos en verde.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89000" y="4921250"/>
            <a:ext cx="6350000" cy="508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003300" y="5010150"/>
            <a:ext cx="1778000" cy="330200"/>
          </a:xfrm>
          <a:prstGeom prst="roundRect">
            <a:avLst>
              <a:gd name="adj" fmla="val 50000"/>
            </a:avLst>
          </a:prstGeom>
          <a:solidFill>
            <a:srgbClr val="8EC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3300" y="5010150"/>
            <a:ext cx="1778000" cy="33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22313F"/>
                </a:solidFill>
                <a:latin typeface="Cascadia Code"/>
              </a:rPr>
              <a:t>data/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21000" y="4921250"/>
            <a:ext cx="41910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D6B78"/>
                </a:solidFill>
                <a:latin typeface="Segoe UI"/>
              </a:rPr>
              <a:t>raw/: los Excel sucios · sample/: datos de ejemplo limpios.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9000" y="5505450"/>
            <a:ext cx="6350000" cy="508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003300" y="5594350"/>
            <a:ext cx="1778000" cy="330200"/>
          </a:xfrm>
          <a:prstGeom prst="roundRect">
            <a:avLst>
              <a:gd name="adj" fmla="val 50000"/>
            </a:avLst>
          </a:prstGeom>
          <a:solidFill>
            <a:srgbClr val="FFD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3300" y="5594350"/>
            <a:ext cx="1778000" cy="33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22313F"/>
                </a:solidFill>
                <a:latin typeface="Cascadia Code"/>
              </a:rPr>
              <a:t>portal_mock/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21000" y="5505450"/>
            <a:ext cx="41910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D6B78"/>
                </a:solidFill>
                <a:latin typeface="Segoe UI"/>
              </a:rPr>
              <a:t>El portal de empleos simulado que vamos a scrapear.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493000" y="2000250"/>
            <a:ext cx="3810000" cy="2844800"/>
          </a:xfrm>
          <a:prstGeom prst="roundRect">
            <a:avLst>
              <a:gd name="adj" fmla="val 8928"/>
            </a:avLst>
          </a:prstGeom>
          <a:solidFill>
            <a:srgbClr val="1D2A38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47000" y="2190750"/>
            <a:ext cx="33020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50" b="0">
                <a:solidFill>
                  <a:srgbClr val="FFD86B"/>
                </a:solidFill>
                <a:latin typeface="Segoe UI Black"/>
              </a:rPr>
              <a:t>✅ Lo primero, en este orden</a:t>
            </a:r>
          </a:p>
        </p:txBody>
      </p:sp>
      <p:sp>
        <p:nvSpPr>
          <p:cNvPr id="37" name="Oval 36"/>
          <p:cNvSpPr/>
          <p:nvPr/>
        </p:nvSpPr>
        <p:spPr>
          <a:xfrm>
            <a:off x="7747000" y="2686050"/>
            <a:ext cx="330200" cy="330200"/>
          </a:xfrm>
          <a:prstGeom prst="ellipse">
            <a:avLst/>
          </a:prstGeom>
          <a:solidFill>
            <a:srgbClr val="7DD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47000" y="2686050"/>
            <a:ext cx="330200" cy="33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22313F"/>
                </a:solidFill>
                <a:latin typeface="Segoe UI Black"/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91500" y="2635250"/>
            <a:ext cx="2984500" cy="444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FFF8EE"/>
                </a:solidFill>
                <a:latin typeface="Segoe UI"/>
              </a:rPr>
              <a:t>Abre README.md y lee “Lo que ya existe”.</a:t>
            </a:r>
          </a:p>
        </p:txBody>
      </p:sp>
      <p:sp>
        <p:nvSpPr>
          <p:cNvPr id="40" name="Oval 39"/>
          <p:cNvSpPr/>
          <p:nvPr/>
        </p:nvSpPr>
        <p:spPr>
          <a:xfrm>
            <a:off x="7747000" y="3219450"/>
            <a:ext cx="330200" cy="330200"/>
          </a:xfrm>
          <a:prstGeom prst="ellipse">
            <a:avLst/>
          </a:prstGeom>
          <a:solidFill>
            <a:srgbClr val="7DD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47000" y="3219450"/>
            <a:ext cx="330200" cy="33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22313F"/>
                </a:solidFill>
                <a:latin typeface="Segoe UI Black"/>
              </a:rPr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91500" y="3168650"/>
            <a:ext cx="2984500" cy="444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FFF8EE"/>
                </a:solidFill>
                <a:latin typeface="Segoe UI"/>
              </a:rPr>
              <a:t>Abre docs/tablero.html en el navegador y busca tu código (A1…D6).</a:t>
            </a:r>
          </a:p>
        </p:txBody>
      </p:sp>
      <p:sp>
        <p:nvSpPr>
          <p:cNvPr id="43" name="Oval 42"/>
          <p:cNvSpPr/>
          <p:nvPr/>
        </p:nvSpPr>
        <p:spPr>
          <a:xfrm>
            <a:off x="7747000" y="3752850"/>
            <a:ext cx="330200" cy="330200"/>
          </a:xfrm>
          <a:prstGeom prst="ellipse">
            <a:avLst/>
          </a:prstGeom>
          <a:solidFill>
            <a:srgbClr val="7DD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47000" y="3752850"/>
            <a:ext cx="330200" cy="33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22313F"/>
                </a:solidFill>
                <a:latin typeface="Segoe UI Black"/>
              </a:rP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91500" y="3702050"/>
            <a:ext cx="2984500" cy="444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FFF8EE"/>
                </a:solidFill>
                <a:latin typeface="Segoe UI"/>
              </a:rPr>
              <a:t>Lee los criterios de tu HU.</a:t>
            </a:r>
          </a:p>
        </p:txBody>
      </p:sp>
      <p:sp>
        <p:nvSpPr>
          <p:cNvPr id="46" name="Oval 45"/>
          <p:cNvSpPr/>
          <p:nvPr/>
        </p:nvSpPr>
        <p:spPr>
          <a:xfrm>
            <a:off x="7747000" y="4286250"/>
            <a:ext cx="330200" cy="330200"/>
          </a:xfrm>
          <a:prstGeom prst="ellipse">
            <a:avLst/>
          </a:prstGeom>
          <a:solidFill>
            <a:srgbClr val="7DD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747000" y="4286250"/>
            <a:ext cx="330200" cy="33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22313F"/>
                </a:solidFill>
                <a:latin typeface="Segoe UI Black"/>
              </a:rP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91500" y="4235450"/>
            <a:ext cx="2984500" cy="444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FFF8EE"/>
                </a:solidFill>
                <a:latin typeface="Segoe UI"/>
              </a:rPr>
              <a:t>Ahora sí: instala el proyecto (paso 3).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493000" y="4984750"/>
            <a:ext cx="3810000" cy="104775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715250" y="4984750"/>
            <a:ext cx="3429000" cy="1047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>
                <a:solidFill>
                  <a:srgbClr val="22313F"/>
                </a:solidFill>
                <a:latin typeface="Segoe UI"/>
              </a:rPr>
              <a:t>⚠️ Reglas de la casa</a:t>
            </a:r>
          </a:p>
          <a:p>
            <a:pPr algn="l">
              <a:lnSpc>
                <a:spcPct val="125000"/>
              </a:lnSpc>
            </a:pPr>
            <a:r>
              <a:rPr sz="1150" b="0">
                <a:solidFill>
                  <a:srgbClr val="5D6B78"/>
                </a:solidFill>
                <a:latin typeface="Segoe UI"/>
              </a:rPr>
              <a:t>No edites a mano los Excel de data/raw.</a:t>
            </a:r>
          </a:p>
          <a:p>
            <a:pPr algn="l">
              <a:lnSpc>
                <a:spcPct val="125000"/>
              </a:lnSpc>
            </a:pPr>
            <a:r>
              <a:rPr sz="1150" b="0">
                <a:solidFill>
                  <a:srgbClr val="5D6B78"/>
                </a:solidFill>
                <a:latin typeface="Segoe UI"/>
              </a:rPr>
              <a:t>Nunca subas la carpeta .venv (ya está en .gitignore).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525000" y="6464300"/>
            <a:ext cx="2286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9AA6B2"/>
                </a:solidFill>
                <a:latin typeface="Segoe UI"/>
              </a:rPr>
              <a:t>TalentScope · DataNexo   29/35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6781800"/>
            <a:ext cx="10096500" cy="76200"/>
          </a:xfrm>
          <a:prstGeom prst="rect">
            <a:avLst/>
          </a:prstGeom>
          <a:gradFill rotWithShape="1">
            <a:gsLst>
              <a:gs pos="0">
                <a:srgbClr val="7DD3B0"/>
              </a:gs>
              <a:gs pos="100000">
                <a:srgbClr val="B9A6F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89000" y="571500"/>
            <a:ext cx="825500" cy="825500"/>
          </a:xfrm>
          <a:prstGeom prst="roundRect">
            <a:avLst>
              <a:gd name="adj" fmla="val 27692"/>
            </a:avLst>
          </a:prstGeom>
          <a:solidFill>
            <a:srgbClr val="7DD3B0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9000" y="571500"/>
            <a:ext cx="8255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4000" b="0">
                <a:solidFill>
                  <a:srgbClr val="22313F"/>
                </a:solidFill>
                <a:latin typeface="Segoe UI Black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36750" y="635000"/>
            <a:ext cx="9525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2E8B6A"/>
                </a:solidFill>
                <a:latin typeface="Cascadia Code"/>
              </a:rPr>
              <a:t>MANOS A LA OBRA · TODOS JUNTOS 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36750" y="889000"/>
            <a:ext cx="9398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22313F"/>
                </a:solidFill>
                <a:latin typeface="Segoe UI Black"/>
              </a:rPr>
              <a:t>Crea tu entorno e instala todo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9000" y="1587500"/>
            <a:ext cx="104140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5D6B78"/>
                </a:solidFill>
                <a:latin typeface="Segoe UI"/>
              </a:rPr>
              <a:t>Un entorno virtual por proyecto: así no se mezclan las librerías.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9000" y="2032000"/>
            <a:ext cx="6350000" cy="546100"/>
          </a:xfrm>
          <a:prstGeom prst="roundRect">
            <a:avLst>
              <a:gd name="adj" fmla="val 25581"/>
            </a:avLst>
          </a:prstGeom>
          <a:solidFill>
            <a:srgbClr val="1D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1250" y="2032000"/>
            <a:ext cx="60325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>
                <a:solidFill>
                  <a:srgbClr val="7DD3B0"/>
                </a:solidFill>
                <a:latin typeface="Cascadia Code"/>
              </a:rPr>
              <a:t>&gt; </a:t>
            </a:r>
            <a:r>
              <a:rPr sz="1350" b="0">
                <a:solidFill>
                  <a:srgbClr val="EAF2F8"/>
                </a:solidFill>
                <a:latin typeface="Cascadia Code"/>
              </a:rPr>
              <a:t>python -m venv .venv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97750" y="2032000"/>
            <a:ext cx="3905250" cy="546100"/>
          </a:xfrm>
          <a:prstGeom prst="roundRect">
            <a:avLst>
              <a:gd name="adj" fmla="val 25581"/>
            </a:avLst>
          </a:prstGeom>
          <a:solidFill>
            <a:srgbClr val="FFFFFF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8250" y="2032000"/>
            <a:ext cx="358775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D6B78"/>
                </a:solidFill>
                <a:latin typeface="Segoe UI"/>
              </a:rPr>
              <a:t>Crea la carpeta .venv (tarda unos segundos).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9000" y="2667000"/>
            <a:ext cx="6350000" cy="546100"/>
          </a:xfrm>
          <a:prstGeom prst="roundRect">
            <a:avLst>
              <a:gd name="adj" fmla="val 25581"/>
            </a:avLst>
          </a:prstGeom>
          <a:solidFill>
            <a:srgbClr val="1D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1250" y="2667000"/>
            <a:ext cx="60325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>
                <a:solidFill>
                  <a:srgbClr val="7DD3B0"/>
                </a:solidFill>
                <a:latin typeface="Cascadia Code"/>
              </a:rPr>
              <a:t>&gt; </a:t>
            </a:r>
            <a:r>
              <a:rPr sz="1350" b="0">
                <a:solidFill>
                  <a:srgbClr val="EAF2F8"/>
                </a:solidFill>
                <a:latin typeface="Cascadia Code"/>
              </a:rPr>
              <a:t>.venv\Scripts\activate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97750" y="2667000"/>
            <a:ext cx="3905250" cy="546100"/>
          </a:xfrm>
          <a:prstGeom prst="roundRect">
            <a:avLst>
              <a:gd name="adj" fmla="val 25581"/>
            </a:avLst>
          </a:prstGeom>
          <a:solidFill>
            <a:srgbClr val="FFFFFF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8250" y="2667000"/>
            <a:ext cx="358775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D6B78"/>
                </a:solidFill>
                <a:latin typeface="Segoe UI"/>
              </a:rPr>
              <a:t>Verás (.venv) al inicio de la línea. ¡Eso es lo que buscamos!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9000" y="3302000"/>
            <a:ext cx="6350000" cy="546100"/>
          </a:xfrm>
          <a:prstGeom prst="roundRect">
            <a:avLst>
              <a:gd name="adj" fmla="val 25581"/>
            </a:avLst>
          </a:prstGeom>
          <a:solidFill>
            <a:srgbClr val="1D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11250" y="3302000"/>
            <a:ext cx="60325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>
                <a:solidFill>
                  <a:srgbClr val="7DD3B0"/>
                </a:solidFill>
                <a:latin typeface="Cascadia Code"/>
              </a:rPr>
              <a:t>&gt; </a:t>
            </a:r>
            <a:r>
              <a:rPr sz="1350" b="0">
                <a:solidFill>
                  <a:srgbClr val="EAF2F8"/>
                </a:solidFill>
                <a:latin typeface="Cascadia Code"/>
              </a:rPr>
              <a:t>python -m pip install --upgrade pip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97750" y="3302000"/>
            <a:ext cx="3905250" cy="546100"/>
          </a:xfrm>
          <a:prstGeom prst="roundRect">
            <a:avLst>
              <a:gd name="adj" fmla="val 25581"/>
            </a:avLst>
          </a:prstGeom>
          <a:solidFill>
            <a:srgbClr val="FFFFFF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8250" y="3302000"/>
            <a:ext cx="358775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D6B78"/>
                </a:solidFill>
                <a:latin typeface="Segoe UI"/>
              </a:rPr>
              <a:t>¡No te lo saltes! Sin esto falla el último paso.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9000" y="3937000"/>
            <a:ext cx="6350000" cy="546100"/>
          </a:xfrm>
          <a:prstGeom prst="roundRect">
            <a:avLst>
              <a:gd name="adj" fmla="val 25581"/>
            </a:avLst>
          </a:prstGeom>
          <a:solidFill>
            <a:srgbClr val="1D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11250" y="3937000"/>
            <a:ext cx="60325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>
                <a:solidFill>
                  <a:srgbClr val="7DD3B0"/>
                </a:solidFill>
                <a:latin typeface="Cascadia Code"/>
              </a:rPr>
              <a:t>&gt; </a:t>
            </a:r>
            <a:r>
              <a:rPr sz="1350" b="0">
                <a:solidFill>
                  <a:srgbClr val="EAF2F8"/>
                </a:solidFill>
                <a:latin typeface="Cascadia Code"/>
              </a:rPr>
              <a:t>pip install -r requirements.txt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97750" y="3937000"/>
            <a:ext cx="3905250" cy="546100"/>
          </a:xfrm>
          <a:prstGeom prst="roundRect">
            <a:avLst>
              <a:gd name="adj" fmla="val 25581"/>
            </a:avLst>
          </a:prstGeom>
          <a:solidFill>
            <a:srgbClr val="FFFFFF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8250" y="3937000"/>
            <a:ext cx="358775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D6B78"/>
                </a:solidFill>
                <a:latin typeface="Segoe UI"/>
              </a:rPr>
              <a:t>Instala pandas, requests, BeautifulSoup… (1 a 3 min).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9000" y="4572000"/>
            <a:ext cx="6350000" cy="546100"/>
          </a:xfrm>
          <a:prstGeom prst="roundRect">
            <a:avLst>
              <a:gd name="adj" fmla="val 25581"/>
            </a:avLst>
          </a:prstGeom>
          <a:solidFill>
            <a:srgbClr val="1D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11250" y="4572000"/>
            <a:ext cx="60325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>
                <a:solidFill>
                  <a:srgbClr val="7DD3B0"/>
                </a:solidFill>
                <a:latin typeface="Cascadia Code"/>
              </a:rPr>
              <a:t>&gt; </a:t>
            </a:r>
            <a:r>
              <a:rPr sz="1350" b="0">
                <a:solidFill>
                  <a:srgbClr val="EAF2F8"/>
                </a:solidFill>
                <a:latin typeface="Cascadia Code"/>
              </a:rPr>
              <a:t>pip install -e 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97750" y="4572000"/>
            <a:ext cx="3905250" cy="546100"/>
          </a:xfrm>
          <a:prstGeom prst="roundRect">
            <a:avLst>
              <a:gd name="adj" fmla="val 25581"/>
            </a:avLst>
          </a:prstGeom>
          <a:solidFill>
            <a:srgbClr val="FFFFFF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8250" y="4572000"/>
            <a:ext cx="358775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D6B78"/>
                </a:solidFill>
                <a:latin typeface="Segoe UI"/>
              </a:rPr>
              <a:t>Instala el proyecto para poder usar “talentscope”.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89000" y="5334000"/>
            <a:ext cx="10414000" cy="9525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43000" y="5334000"/>
            <a:ext cx="9906000" cy="952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>
                <a:solidFill>
                  <a:srgbClr val="22313F"/>
                </a:solidFill>
                <a:latin typeface="Segoe UI"/>
              </a:rPr>
              <a:t>😬 ¿PowerShell dice que “la ejecución de scripts está deshabilitada”? </a:t>
            </a:r>
          </a:p>
          <a:p>
            <a:pPr algn="l">
              <a:lnSpc>
                <a:spcPct val="130000"/>
              </a:lnSpc>
            </a:pPr>
            <a:r>
              <a:rPr sz="1250" b="0">
                <a:solidFill>
                  <a:srgbClr val="5D6B78"/>
                </a:solidFill>
                <a:latin typeface="Segoe UI"/>
              </a:rPr>
              <a:t>Escribe </a:t>
            </a:r>
            <a:r>
              <a:rPr sz="1250" b="0">
                <a:solidFill>
                  <a:srgbClr val="2E8B6A"/>
                </a:solidFill>
                <a:latin typeface="Cascadia Code"/>
              </a:rPr>
              <a:t>Set-ExecutionPolicy -Scope Process -ExecutionPolicy Bypass</a:t>
            </a:r>
            <a:r>
              <a:rPr sz="1250" b="0">
                <a:solidFill>
                  <a:srgbClr val="5D6B78"/>
                </a:solidFill>
                <a:latin typeface="Segoe UI"/>
              </a:rPr>
              <a:t> y repite el activate. Solo afecta esa ventana. O usa cmd.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25000" y="6464300"/>
            <a:ext cx="2286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9AA6B2"/>
                </a:solidFill>
                <a:latin typeface="Segoe UI"/>
              </a:rPr>
              <a:t>TalentScope · DataNexo   30/35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781800"/>
            <a:ext cx="10445750" cy="76200"/>
          </a:xfrm>
          <a:prstGeom prst="rect">
            <a:avLst/>
          </a:prstGeom>
          <a:gradFill rotWithShape="1">
            <a:gsLst>
              <a:gs pos="0">
                <a:srgbClr val="7DD3B0"/>
              </a:gs>
              <a:gs pos="100000">
                <a:srgbClr val="B9A6F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89000" y="571500"/>
            <a:ext cx="825500" cy="825500"/>
          </a:xfrm>
          <a:prstGeom prst="roundRect">
            <a:avLst>
              <a:gd name="adj" fmla="val 27692"/>
            </a:avLst>
          </a:prstGeom>
          <a:solidFill>
            <a:srgbClr val="7DD3B0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9000" y="571500"/>
            <a:ext cx="8255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4000" b="0">
                <a:solidFill>
                  <a:srgbClr val="22313F"/>
                </a:solidFill>
                <a:latin typeface="Segoe UI Black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36750" y="635000"/>
            <a:ext cx="9525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2E8B6A"/>
                </a:solidFill>
                <a:latin typeface="Cascadia Code"/>
              </a:rPr>
              <a:t>MANOS A LA OBRA · TODOS JUNTOS 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36750" y="889000"/>
            <a:ext cx="9398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22313F"/>
                </a:solidFill>
                <a:latin typeface="Segoe UI Black"/>
              </a:rPr>
              <a:t>Mira los tests en rojo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9000" y="1587500"/>
            <a:ext cx="104140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5D6B78"/>
                </a:solidFill>
                <a:latin typeface="Segoe UI"/>
              </a:rPr>
              <a:t>Cada test que falla es un bug o una HU del backlog. Hoy deben fallar: ese es el punto de partida.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9000" y="2095500"/>
            <a:ext cx="6350000" cy="546100"/>
          </a:xfrm>
          <a:prstGeom prst="roundRect">
            <a:avLst>
              <a:gd name="adj" fmla="val 25581"/>
            </a:avLst>
          </a:prstGeom>
          <a:solidFill>
            <a:srgbClr val="1D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1250" y="2095500"/>
            <a:ext cx="60325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>
                <a:solidFill>
                  <a:srgbClr val="7DD3B0"/>
                </a:solidFill>
                <a:latin typeface="Cascadia Code"/>
              </a:rPr>
              <a:t>&gt; </a:t>
            </a:r>
            <a:r>
              <a:rPr sz="1350" b="0">
                <a:solidFill>
                  <a:srgbClr val="EAF2F8"/>
                </a:solidFill>
                <a:latin typeface="Cascadia Code"/>
              </a:rPr>
              <a:t>pytest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97750" y="2095500"/>
            <a:ext cx="3905250" cy="546100"/>
          </a:xfrm>
          <a:prstGeom prst="roundRect">
            <a:avLst>
              <a:gd name="adj" fmla="val 25581"/>
            </a:avLst>
          </a:prstGeom>
          <a:solidFill>
            <a:srgbClr val="FFFFFF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8250" y="2095500"/>
            <a:ext cx="358775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D6B78"/>
                </a:solidFill>
                <a:latin typeface="Segoe UI"/>
              </a:rPr>
              <a:t>Al final debe decir: 14 failed, 5 passed ✅ (¡así debe ser!)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9000" y="2794000"/>
            <a:ext cx="6350000" cy="546100"/>
          </a:xfrm>
          <a:prstGeom prst="roundRect">
            <a:avLst>
              <a:gd name="adj" fmla="val 25581"/>
            </a:avLst>
          </a:prstGeom>
          <a:solidFill>
            <a:srgbClr val="1D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1250" y="2794000"/>
            <a:ext cx="60325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>
                <a:solidFill>
                  <a:srgbClr val="7DD3B0"/>
                </a:solidFill>
                <a:latin typeface="Cascadia Code"/>
              </a:rPr>
              <a:t>&gt; </a:t>
            </a:r>
            <a:r>
              <a:rPr sz="1350" b="0">
                <a:solidFill>
                  <a:srgbClr val="EAF2F8"/>
                </a:solidFill>
                <a:latin typeface="Cascadia Code"/>
              </a:rPr>
              <a:t>pytest -k ciudad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97750" y="2794000"/>
            <a:ext cx="3905250" cy="546100"/>
          </a:xfrm>
          <a:prstGeom prst="roundRect">
            <a:avLst>
              <a:gd name="adj" fmla="val 25581"/>
            </a:avLst>
          </a:prstGeom>
          <a:solidFill>
            <a:srgbClr val="FFFFFF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8250" y="2794000"/>
            <a:ext cx="358775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D6B78"/>
                </a:solidFill>
                <a:latin typeface="Segoe UI"/>
              </a:rPr>
              <a:t>Solo los tests de ciudades: BUG-01 del Squad B.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9000" y="3492500"/>
            <a:ext cx="6350000" cy="546100"/>
          </a:xfrm>
          <a:prstGeom prst="roundRect">
            <a:avLst>
              <a:gd name="adj" fmla="val 25581"/>
            </a:avLst>
          </a:prstGeom>
          <a:solidFill>
            <a:srgbClr val="1D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11250" y="3492500"/>
            <a:ext cx="60325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>
                <a:solidFill>
                  <a:srgbClr val="7DD3B0"/>
                </a:solidFill>
                <a:latin typeface="Cascadia Code"/>
              </a:rPr>
              <a:t>&gt; </a:t>
            </a:r>
            <a:r>
              <a:rPr sz="1350" b="0">
                <a:solidFill>
                  <a:srgbClr val="EAF2F8"/>
                </a:solidFill>
                <a:latin typeface="Cascadia Code"/>
              </a:rPr>
              <a:t>pytest tests/test_scraper.py -v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97750" y="3492500"/>
            <a:ext cx="3905250" cy="546100"/>
          </a:xfrm>
          <a:prstGeom prst="roundRect">
            <a:avLst>
              <a:gd name="adj" fmla="val 25581"/>
            </a:avLst>
          </a:prstGeom>
          <a:solidFill>
            <a:srgbClr val="FFFFFF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8250" y="3492500"/>
            <a:ext cx="358775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D6B78"/>
                </a:solidFill>
                <a:latin typeface="Segoe UI"/>
              </a:rPr>
              <a:t>Los tests del Squad A, uno por línea con su nombre.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9000" y="4191000"/>
            <a:ext cx="6350000" cy="546100"/>
          </a:xfrm>
          <a:prstGeom prst="roundRect">
            <a:avLst>
              <a:gd name="adj" fmla="val 25581"/>
            </a:avLst>
          </a:prstGeom>
          <a:solidFill>
            <a:srgbClr val="1D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11250" y="4191000"/>
            <a:ext cx="60325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>
                <a:solidFill>
                  <a:srgbClr val="7DD3B0"/>
                </a:solidFill>
                <a:latin typeface="Cascadia Code"/>
              </a:rPr>
              <a:t>&gt; </a:t>
            </a:r>
            <a:r>
              <a:rPr sz="1350" b="0">
                <a:solidFill>
                  <a:srgbClr val="EAF2F8"/>
                </a:solidFill>
                <a:latin typeface="Cascadia Code"/>
              </a:rPr>
              <a:t>pytest -x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97750" y="4191000"/>
            <a:ext cx="3905250" cy="546100"/>
          </a:xfrm>
          <a:prstGeom prst="roundRect">
            <a:avLst>
              <a:gd name="adj" fmla="val 25581"/>
            </a:avLst>
          </a:prstGeom>
          <a:solidFill>
            <a:srgbClr val="FFFFFF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8250" y="4191000"/>
            <a:ext cx="358775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D6B78"/>
                </a:solidFill>
                <a:latin typeface="Segoe UI"/>
              </a:rPr>
              <a:t>Se detiene en el primer test que falla y muestra por qué.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9000" y="5016500"/>
            <a:ext cx="10414000" cy="1206500"/>
          </a:xfrm>
          <a:prstGeom prst="roundRect">
            <a:avLst>
              <a:gd name="adj" fmla="val 21052"/>
            </a:avLst>
          </a:prstGeom>
          <a:solidFill>
            <a:srgbClr val="1D2A38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74750" y="5270500"/>
            <a:ext cx="772160" cy="675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 b="0">
                <a:solidFill>
                  <a:srgbClr val="22313F"/>
                </a:solidFill>
                <a:latin typeface="Segoe UI Emoji"/>
              </a:rPr>
              <a:t>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95500" y="5016500"/>
            <a:ext cx="9017000" cy="1206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>
                <a:solidFill>
                  <a:srgbClr val="FFD86B"/>
                </a:solidFill>
                <a:latin typeface="Segoe UI"/>
              </a:rPr>
              <a:t>Tu meta del Sprint 1: </a:t>
            </a:r>
            <a:r>
              <a:rPr sz="1550" b="0">
                <a:solidFill>
                  <a:srgbClr val="FFF8EE"/>
                </a:solidFill>
                <a:latin typeface="Segoe UI"/>
              </a:rPr>
              <a:t>que los tests de tu HU pasen a verde. Cuando el squad termine, </a:t>
            </a:r>
            <a:r>
              <a:rPr sz="1550" b="0">
                <a:solidFill>
                  <a:srgbClr val="7DD3B0"/>
                </a:solidFill>
                <a:latin typeface="Cascadia Code"/>
              </a:rPr>
              <a:t>pytest</a:t>
            </a:r>
            <a:r>
              <a:rPr sz="1550" b="0">
                <a:solidFill>
                  <a:srgbClr val="FFF8EE"/>
                </a:solidFill>
                <a:latin typeface="Segoe UI"/>
              </a:rPr>
              <a:t> debe decir 19 passed.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25000" y="6464300"/>
            <a:ext cx="2286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9AA6B2"/>
                </a:solidFill>
                <a:latin typeface="Segoe UI"/>
              </a:rPr>
              <a:t>TalentScope · DataNexo   31/35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781800"/>
            <a:ext cx="10795000" cy="76200"/>
          </a:xfrm>
          <a:prstGeom prst="rect">
            <a:avLst/>
          </a:prstGeom>
          <a:gradFill rotWithShape="1">
            <a:gsLst>
              <a:gs pos="0">
                <a:srgbClr val="7DD3B0"/>
              </a:gs>
              <a:gs pos="100000">
                <a:srgbClr val="B9A6F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89000" y="571500"/>
            <a:ext cx="825500" cy="825500"/>
          </a:xfrm>
          <a:prstGeom prst="roundRect">
            <a:avLst>
              <a:gd name="adj" fmla="val 27692"/>
            </a:avLst>
          </a:prstGeom>
          <a:solidFill>
            <a:srgbClr val="7DD3B0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9000" y="571500"/>
            <a:ext cx="8255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4000" b="0">
                <a:solidFill>
                  <a:srgbClr val="22313F"/>
                </a:solidFill>
                <a:latin typeface="Segoe UI Black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36750" y="635000"/>
            <a:ext cx="9525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2E8B6A"/>
                </a:solidFill>
                <a:latin typeface="Cascadia Code"/>
              </a:rPr>
              <a:t>MANOS A LA OBRA · TODOS JUNTOS 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36750" y="889000"/>
            <a:ext cx="9398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22313F"/>
                </a:solidFill>
                <a:latin typeface="Segoe UI Black"/>
              </a:rPr>
              <a:t>Conoce lo que dejó el equipo anterior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9000" y="1587500"/>
            <a:ext cx="104140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5D6B78"/>
                </a:solidFill>
                <a:latin typeface="Segoe UI"/>
              </a:rPr>
              <a:t>Necesitas dos terminales abiertas en la carpeta talentscope-estudiantes.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9000" y="2000250"/>
            <a:ext cx="10414000" cy="355600"/>
          </a:xfrm>
          <a:prstGeom prst="roundRect">
            <a:avLst>
              <a:gd name="adj" fmla="val 50000"/>
            </a:avLst>
          </a:prstGeom>
          <a:solidFill>
            <a:srgbClr val="FFF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9000" y="2000250"/>
            <a:ext cx="1041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>
                <a:solidFill>
                  <a:srgbClr val="22313F"/>
                </a:solidFill>
                <a:latin typeface="Segoe UI Black"/>
              </a:rPr>
              <a:t>Terminal 2 · el portal de empleos (déjala abierta)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9000" y="2444750"/>
            <a:ext cx="6350000" cy="508000"/>
          </a:xfrm>
          <a:prstGeom prst="roundRect">
            <a:avLst>
              <a:gd name="adj" fmla="val 27500"/>
            </a:avLst>
          </a:prstGeom>
          <a:solidFill>
            <a:srgbClr val="1D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1250" y="2444750"/>
            <a:ext cx="60325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>
                <a:solidFill>
                  <a:srgbClr val="7DD3B0"/>
                </a:solidFill>
                <a:latin typeface="Cascadia Code"/>
              </a:rPr>
              <a:t>&gt; </a:t>
            </a:r>
            <a:r>
              <a:rPr sz="1350" b="0">
                <a:solidFill>
                  <a:srgbClr val="EAF2F8"/>
                </a:solidFill>
                <a:latin typeface="Cascadia Code"/>
              </a:rPr>
              <a:t>python -m http.server 8000 --directory portal_mock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97750" y="2444750"/>
            <a:ext cx="3905250" cy="508000"/>
          </a:xfrm>
          <a:prstGeom prst="roundRect">
            <a:avLst>
              <a:gd name="adj" fmla="val 27500"/>
            </a:avLst>
          </a:prstGeom>
          <a:solidFill>
            <a:srgbClr val="FFFFFF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8250" y="2444750"/>
            <a:ext cx="358775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D6B78"/>
                </a:solidFill>
                <a:latin typeface="Segoe UI"/>
              </a:rPr>
              <a:t>Abre en el navegador http://127.0.0.1:8000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9000" y="3079750"/>
            <a:ext cx="10414000" cy="355600"/>
          </a:xfrm>
          <a:prstGeom prst="roundRect">
            <a:avLst>
              <a:gd name="adj" fmla="val 50000"/>
            </a:avLst>
          </a:prstGeom>
          <a:solidFill>
            <a:srgbClr val="F4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9000" y="3079750"/>
            <a:ext cx="1041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>
                <a:solidFill>
                  <a:srgbClr val="22313F"/>
                </a:solidFill>
                <a:latin typeface="Segoe UI Black"/>
              </a:rPr>
              <a:t>Terminal 1 · con (.venv) activo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9000" y="3524250"/>
            <a:ext cx="6350000" cy="609600"/>
          </a:xfrm>
          <a:prstGeom prst="roundRect">
            <a:avLst>
              <a:gd name="adj" fmla="val 22916"/>
            </a:avLst>
          </a:prstGeom>
          <a:solidFill>
            <a:srgbClr val="1D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11250" y="3524250"/>
            <a:ext cx="603250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>
                <a:solidFill>
                  <a:srgbClr val="7DD3B0"/>
                </a:solidFill>
                <a:latin typeface="Cascadia Code"/>
              </a:rPr>
              <a:t>&gt; </a:t>
            </a:r>
            <a:r>
              <a:rPr sz="1350" b="0">
                <a:solidFill>
                  <a:srgbClr val="EAF2F8"/>
                </a:solidFill>
                <a:latin typeface="Cascadia Code"/>
              </a:rPr>
              <a:t>python -m talentscope.pipeline scraping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97750" y="3524250"/>
            <a:ext cx="3905250" cy="609600"/>
          </a:xfrm>
          <a:prstGeom prst="roundRect">
            <a:avLst>
              <a:gd name="adj" fmla="val 22916"/>
            </a:avLst>
          </a:prstGeom>
          <a:solidFill>
            <a:srgbClr val="FFFFFF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8250" y="3524250"/>
            <a:ext cx="358775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D6B78"/>
                </a:solidFill>
                <a:latin typeface="Segoe UI"/>
              </a:rPr>
              <a:t>“Scraping: 20 ofertas”. ¿Y las otras 98? Mira las tildes en data/processed. 🐛 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9000" y="4222750"/>
            <a:ext cx="6350000" cy="609600"/>
          </a:xfrm>
          <a:prstGeom prst="roundRect">
            <a:avLst>
              <a:gd name="adj" fmla="val 22916"/>
            </a:avLst>
          </a:prstGeom>
          <a:solidFill>
            <a:srgbClr val="1D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11250" y="4222750"/>
            <a:ext cx="603250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>
                <a:solidFill>
                  <a:srgbClr val="7DD3B0"/>
                </a:solidFill>
                <a:latin typeface="Cascadia Code"/>
              </a:rPr>
              <a:t>&gt; </a:t>
            </a:r>
            <a:r>
              <a:rPr sz="1350" b="0">
                <a:solidFill>
                  <a:srgbClr val="EAF2F8"/>
                </a:solidFill>
                <a:latin typeface="Cascadia Code"/>
              </a:rPr>
              <a:t>python -m talentscope.pipeline excel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97750" y="4222750"/>
            <a:ext cx="3905250" cy="609600"/>
          </a:xfrm>
          <a:prstGeom prst="roundRect">
            <a:avLst>
              <a:gd name="adj" fmla="val 22916"/>
            </a:avLst>
          </a:prstGeom>
          <a:solidFill>
            <a:srgbClr val="FFFFFF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8250" y="4222750"/>
            <a:ext cx="358775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D6B78"/>
                </a:solidFill>
                <a:latin typeface="Segoe UI"/>
              </a:rPr>
              <a:t>Columnas “Unnamed: 1”, “Unnamed: 2”… 🐛 BUG-02 (Squad B)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9000" y="4921250"/>
            <a:ext cx="6350000" cy="609600"/>
          </a:xfrm>
          <a:prstGeom prst="roundRect">
            <a:avLst>
              <a:gd name="adj" fmla="val 22916"/>
            </a:avLst>
          </a:prstGeom>
          <a:solidFill>
            <a:srgbClr val="1D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11250" y="4921250"/>
            <a:ext cx="603250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>
                <a:solidFill>
                  <a:srgbClr val="7DD3B0"/>
                </a:solidFill>
                <a:latin typeface="Cascadia Code"/>
              </a:rPr>
              <a:t>&gt; </a:t>
            </a:r>
            <a:r>
              <a:rPr sz="1350" b="0">
                <a:solidFill>
                  <a:srgbClr val="EAF2F8"/>
                </a:solidFill>
                <a:latin typeface="Cascadia Code"/>
              </a:rPr>
              <a:t>python -m talentscope.pipeline reporte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97750" y="4921250"/>
            <a:ext cx="3905250" cy="609600"/>
          </a:xfrm>
          <a:prstGeom prst="roundRect">
            <a:avLst>
              <a:gd name="adj" fmla="val 22916"/>
            </a:avLst>
          </a:prstGeom>
          <a:solidFill>
            <a:srgbClr val="FFFFFF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8250" y="4921250"/>
            <a:ext cx="358775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D6B78"/>
                </a:solidFill>
                <a:latin typeface="Segoe UI"/>
              </a:rPr>
              <a:t>Error: no encuentra C:/Users/andres.dev/… 🐛 BUG-03 (Squad C)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89000" y="5715000"/>
            <a:ext cx="10414000" cy="50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9000" y="5715000"/>
            <a:ext cx="104140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350" b="0">
                <a:solidFill>
                  <a:srgbClr val="5D6B78"/>
                </a:solidFill>
                <a:latin typeface="Segoe UI"/>
              </a:rPr>
              <a:t>Para apagar el portal: Ctrl + C en la terminal 2.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25000" y="6464300"/>
            <a:ext cx="2286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9AA6B2"/>
                </a:solidFill>
                <a:latin typeface="Segoe UI"/>
              </a:rPr>
              <a:t>TalentScope · DataNexo   32/35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781800"/>
            <a:ext cx="11144250" cy="76200"/>
          </a:xfrm>
          <a:prstGeom prst="rect">
            <a:avLst/>
          </a:prstGeom>
          <a:gradFill rotWithShape="1">
            <a:gsLst>
              <a:gs pos="0">
                <a:srgbClr val="7DD3B0"/>
              </a:gs>
              <a:gs pos="100000">
                <a:srgbClr val="B9A6F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89000" y="571500"/>
            <a:ext cx="825500" cy="825500"/>
          </a:xfrm>
          <a:prstGeom prst="roundRect">
            <a:avLst>
              <a:gd name="adj" fmla="val 27692"/>
            </a:avLst>
          </a:prstGeom>
          <a:solidFill>
            <a:srgbClr val="7DD3B0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9000" y="571500"/>
            <a:ext cx="8255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4000" b="0">
                <a:solidFill>
                  <a:srgbClr val="22313F"/>
                </a:solidFill>
                <a:latin typeface="Segoe UI Black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36750" y="635000"/>
            <a:ext cx="9525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2E8B6A"/>
                </a:solidFill>
                <a:latin typeface="Cascadia Code"/>
              </a:rPr>
              <a:t>MANOS A LA OBRA · TODOS JUNTOS 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36750" y="889000"/>
            <a:ext cx="9398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22313F"/>
                </a:solidFill>
                <a:latin typeface="Segoe UI Black"/>
              </a:rPr>
              <a:t>Encuentra tu HU en el código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9000" y="1587500"/>
            <a:ext cx="104140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5D6B78"/>
                </a:solidFill>
                <a:latin typeface="Segoe UI"/>
              </a:rPr>
              <a:t>En VS Code, busca el archivo y el test de tu squad.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9000" y="2032000"/>
            <a:ext cx="10414000" cy="698500"/>
          </a:xfrm>
          <a:prstGeom prst="roundRect">
            <a:avLst>
              <a:gd name="adj" fmla="val 27272"/>
            </a:avLst>
          </a:prstGeom>
          <a:solidFill>
            <a:srgbClr val="FFFFFF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16000" y="2139950"/>
            <a:ext cx="482600" cy="482600"/>
          </a:xfrm>
          <a:prstGeom prst="ellipse">
            <a:avLst/>
          </a:prstGeom>
          <a:solidFill>
            <a:srgbClr val="FFD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6000" y="2139950"/>
            <a:ext cx="482600" cy="482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0">
                <a:solidFill>
                  <a:srgbClr val="22313F"/>
                </a:solidFill>
                <a:latin typeface="Segoe UI Black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82750" y="2032000"/>
            <a:ext cx="5461000" cy="698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2313F"/>
                </a:solidFill>
                <a:latin typeface="Cascadia Code"/>
              </a:rPr>
              <a:t>src/talentscope/scraping/portal_scraper.py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02500" y="2032000"/>
            <a:ext cx="3873500" cy="698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8B6A"/>
                </a:solidFill>
                <a:latin typeface="Cascadia Code"/>
              </a:rPr>
              <a:t>tests/test_scraper.py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9000" y="2825750"/>
            <a:ext cx="10414000" cy="698500"/>
          </a:xfrm>
          <a:prstGeom prst="roundRect">
            <a:avLst>
              <a:gd name="adj" fmla="val 27272"/>
            </a:avLst>
          </a:prstGeom>
          <a:solidFill>
            <a:srgbClr val="FFFFFF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16000" y="2933700"/>
            <a:ext cx="482600" cy="482600"/>
          </a:xfrm>
          <a:prstGeom prst="ellipse">
            <a:avLst/>
          </a:prstGeom>
          <a:solidFill>
            <a:srgbClr val="FFB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16000" y="2933700"/>
            <a:ext cx="482600" cy="482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0">
                <a:solidFill>
                  <a:srgbClr val="22313F"/>
                </a:solidFill>
                <a:latin typeface="Segoe UI Black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82750" y="2825750"/>
            <a:ext cx="5461000" cy="698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2313F"/>
                </a:solidFill>
                <a:latin typeface="Cascadia Code"/>
              </a:rPr>
              <a:t>src/talentscope/excel/lector_encuestas.py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22313F"/>
                </a:solidFill>
                <a:latin typeface="Cascadia Code"/>
              </a:rPr>
              <a:t>src/talentscope/limpieza/normalizadores.py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02500" y="2825750"/>
            <a:ext cx="3873500" cy="698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8B6A"/>
                </a:solidFill>
                <a:latin typeface="Cascadia Code"/>
              </a:rPr>
              <a:t>tests/test_lector_encuestas.py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8B6A"/>
                </a:solidFill>
                <a:latin typeface="Cascadia Code"/>
              </a:rPr>
              <a:t>tests/test_normalizadores.py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9000" y="3619500"/>
            <a:ext cx="10414000" cy="698500"/>
          </a:xfrm>
          <a:prstGeom prst="roundRect">
            <a:avLst>
              <a:gd name="adj" fmla="val 27272"/>
            </a:avLst>
          </a:prstGeom>
          <a:solidFill>
            <a:srgbClr val="FFFFFF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16000" y="3727450"/>
            <a:ext cx="482600" cy="482600"/>
          </a:xfrm>
          <a:prstGeom prst="ellipse">
            <a:avLst/>
          </a:prstGeom>
          <a:solidFill>
            <a:srgbClr val="7DD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16000" y="3727450"/>
            <a:ext cx="482600" cy="482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0">
                <a:solidFill>
                  <a:srgbClr val="22313F"/>
                </a:solidFill>
                <a:latin typeface="Segoe UI Black"/>
              </a:rP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82750" y="3619500"/>
            <a:ext cx="5461000" cy="698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2313F"/>
                </a:solidFill>
                <a:latin typeface="Cascadia Code"/>
              </a:rPr>
              <a:t>src/talentscope/reportes/reporte_semanal.py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22313F"/>
                </a:solidFill>
                <a:latin typeface="Cascadia Code"/>
              </a:rPr>
              <a:t>data/sample/ (tus datos de hoy)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02500" y="3619500"/>
            <a:ext cx="3873500" cy="698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8B6A"/>
                </a:solidFill>
                <a:latin typeface="Cascadia Code"/>
              </a:rPr>
              <a:t>tests/test_reporte.py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9000" y="4413250"/>
            <a:ext cx="10414000" cy="698500"/>
          </a:xfrm>
          <a:prstGeom prst="roundRect">
            <a:avLst>
              <a:gd name="adj" fmla="val 27272"/>
            </a:avLst>
          </a:prstGeom>
          <a:solidFill>
            <a:srgbClr val="FFFFFF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16000" y="4521200"/>
            <a:ext cx="482600" cy="482600"/>
          </a:xfrm>
          <a:prstGeom prst="ellipse">
            <a:avLst/>
          </a:prstGeom>
          <a:solidFill>
            <a:srgbClr val="B9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16000" y="4521200"/>
            <a:ext cx="482600" cy="482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0">
                <a:solidFill>
                  <a:srgbClr val="22313F"/>
                </a:solidFill>
                <a:latin typeface="Segoe UI Black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82750" y="4413250"/>
            <a:ext cx="5461000" cy="698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2313F"/>
                </a:solidFill>
                <a:latin typeface="Cascadia Code"/>
              </a:rPr>
              <a:t>src/talentscope/reportes/ (archivos nuevos)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22313F"/>
                </a:solidFill>
                <a:latin typeface="Cascadia Code"/>
              </a:rPr>
              <a:t>data/sample/ (tus datos de hoy)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02500" y="4413250"/>
            <a:ext cx="3873500" cy="698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E8B6A"/>
                </a:solidFill>
                <a:latin typeface="Cascadia Code"/>
              </a:rPr>
              <a:t>Tú escribes los tests nuevos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9000" y="5207000"/>
            <a:ext cx="5715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22313F"/>
                </a:solidFill>
                <a:latin typeface="Segoe UI Black"/>
              </a:rPr>
              <a:t>Si trabajamos con Git, crea tu rama así: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89000" y="5524500"/>
            <a:ext cx="6350000" cy="546100"/>
          </a:xfrm>
          <a:prstGeom prst="roundRect">
            <a:avLst>
              <a:gd name="adj" fmla="val 25581"/>
            </a:avLst>
          </a:prstGeom>
          <a:solidFill>
            <a:srgbClr val="1D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11250" y="5524500"/>
            <a:ext cx="60325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>
                <a:solidFill>
                  <a:srgbClr val="7DD3B0"/>
                </a:solidFill>
                <a:latin typeface="Cascadia Code"/>
              </a:rPr>
              <a:t>&gt; </a:t>
            </a:r>
            <a:r>
              <a:rPr sz="1350" b="0">
                <a:solidFill>
                  <a:srgbClr val="EAF2F8"/>
                </a:solidFill>
                <a:latin typeface="Cascadia Code"/>
              </a:rPr>
              <a:t>git switch -c A2-HU-10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97750" y="5524500"/>
            <a:ext cx="3905250" cy="546100"/>
          </a:xfrm>
          <a:prstGeom prst="roundRect">
            <a:avLst>
              <a:gd name="adj" fmla="val 25581"/>
            </a:avLst>
          </a:prstGeom>
          <a:solidFill>
            <a:srgbClr val="FFFFFF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88250" y="5524500"/>
            <a:ext cx="358775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D6B78"/>
                </a:solidFill>
                <a:latin typeface="Segoe UI"/>
              </a:rPr>
              <a:t>Tu código y tu HU. Ej.: B3-BUG-01, D5-HU-84.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25000" y="6464300"/>
            <a:ext cx="2286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9AA6B2"/>
                </a:solidFill>
                <a:latin typeface="Segoe UI"/>
              </a:rPr>
              <a:t>TalentScope · DataNexo   33/35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781800"/>
            <a:ext cx="11493500" cy="76200"/>
          </a:xfrm>
          <a:prstGeom prst="rect">
            <a:avLst/>
          </a:prstGeom>
          <a:gradFill rotWithShape="1">
            <a:gsLst>
              <a:gs pos="0">
                <a:srgbClr val="7DD3B0"/>
              </a:gs>
              <a:gs pos="100000">
                <a:srgbClr val="B9A6F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477500" y="-635000"/>
            <a:ext cx="2413000" cy="2413000"/>
          </a:xfrm>
          <a:prstGeom prst="ellipse">
            <a:avLst/>
          </a:prstGeom>
          <a:solidFill>
            <a:srgbClr val="8EC9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9000" y="698500"/>
            <a:ext cx="10414000" cy="603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0">
                <a:solidFill>
                  <a:srgbClr val="22313F"/>
                </a:solidFill>
                <a:latin typeface="Segoe UI Black"/>
              </a:rPr>
              <a:t>Antes de salir hoy, cada uno… ✅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89000" y="1778000"/>
            <a:ext cx="6350000" cy="88900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11250" y="1968500"/>
            <a:ext cx="508000" cy="508000"/>
          </a:xfrm>
          <a:prstGeom prst="ellipse">
            <a:avLst/>
          </a:prstGeom>
          <a:solidFill>
            <a:srgbClr val="FFD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1250" y="1968500"/>
            <a:ext cx="5080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0">
                <a:solidFill>
                  <a:srgbClr val="22313F"/>
                </a:solidFill>
                <a:latin typeface="Segoe UI Black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41500" y="1778000"/>
            <a:ext cx="52070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>
                <a:solidFill>
                  <a:srgbClr val="22313F"/>
                </a:solidFill>
                <a:latin typeface="Segoe UI"/>
              </a:rPr>
              <a:t>Entra a </a:t>
            </a:r>
            <a:r>
              <a:rPr sz="1550" b="1">
                <a:solidFill>
                  <a:srgbClr val="22313F"/>
                </a:solidFill>
                <a:latin typeface="Segoe UI"/>
              </a:rPr>
              <a:t>Kaizen</a:t>
            </a:r>
            <a:r>
              <a:rPr sz="1550" b="0">
                <a:solidFill>
                  <a:srgbClr val="22313F"/>
                </a:solidFill>
                <a:latin typeface="Segoe UI"/>
              </a:rPr>
              <a:t>, se une a su squad y toma su HU.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9000" y="2825750"/>
            <a:ext cx="6350000" cy="88900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11250" y="3016250"/>
            <a:ext cx="508000" cy="508000"/>
          </a:xfrm>
          <a:prstGeom prst="ellipse">
            <a:avLst/>
          </a:prstGeom>
          <a:solidFill>
            <a:srgbClr val="FFB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1250" y="3016250"/>
            <a:ext cx="5080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0">
                <a:solidFill>
                  <a:srgbClr val="22313F"/>
                </a:solidFill>
                <a:latin typeface="Segoe UI Black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41500" y="2825750"/>
            <a:ext cx="52070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>
                <a:solidFill>
                  <a:srgbClr val="22313F"/>
                </a:solidFill>
                <a:latin typeface="Segoe UI"/>
              </a:rPr>
              <a:t>Clona el repositorio, instala y corre </a:t>
            </a:r>
            <a:r>
              <a:rPr sz="1550" b="1">
                <a:solidFill>
                  <a:srgbClr val="2E8B6A"/>
                </a:solidFill>
                <a:latin typeface="Cascadia Code"/>
              </a:rPr>
              <a:t>pytest</a:t>
            </a:r>
            <a:r>
              <a:rPr sz="1550" b="0">
                <a:solidFill>
                  <a:srgbClr val="22313F"/>
                </a:solidFill>
                <a:latin typeface="Segoe UI"/>
              </a:rPr>
              <a:t>: 14 en rojo.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9000" y="3873500"/>
            <a:ext cx="6350000" cy="88900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11250" y="4064000"/>
            <a:ext cx="508000" cy="508000"/>
          </a:xfrm>
          <a:prstGeom prst="ellipse">
            <a:avLst/>
          </a:prstGeom>
          <a:solidFill>
            <a:srgbClr val="7DD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1250" y="4064000"/>
            <a:ext cx="5080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0">
                <a:solidFill>
                  <a:srgbClr val="22313F"/>
                </a:solidFill>
                <a:latin typeface="Segoe UI Black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41500" y="3873500"/>
            <a:ext cx="52070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>
                <a:solidFill>
                  <a:srgbClr val="22313F"/>
                </a:solidFill>
                <a:latin typeface="Segoe UI"/>
              </a:rPr>
              <a:t>Lee los criterios de su HU y escribe una pregunta para el cliente.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9000" y="4921250"/>
            <a:ext cx="6350000" cy="88900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11250" y="5111750"/>
            <a:ext cx="508000" cy="508000"/>
          </a:xfrm>
          <a:prstGeom prst="ellipse">
            <a:avLst/>
          </a:prstGeom>
          <a:solidFill>
            <a:srgbClr val="B9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1250" y="5111750"/>
            <a:ext cx="5080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0">
                <a:solidFill>
                  <a:srgbClr val="22313F"/>
                </a:solidFill>
                <a:latin typeface="Segoe UI Black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41500" y="4921250"/>
            <a:ext cx="52070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>
                <a:solidFill>
                  <a:srgbClr val="22313F"/>
                </a:solidFill>
                <a:latin typeface="Segoe UI"/>
              </a:rPr>
              <a:t>Hace su primer daily con el squad.</a:t>
            </a:r>
          </a:p>
        </p:txBody>
      </p:sp>
      <p:pic>
        <p:nvPicPr>
          <p:cNvPr id="20" name="Picture 19" descr="graduada.jpg"/>
          <p:cNvPicPr>
            <a:picLocks noChangeAspect="1"/>
          </p:cNvPicPr>
          <p:nvPr/>
        </p:nvPicPr>
        <p:blipFill>
          <a:blip r:embed="rId3"/>
          <a:srcRect l="8865" r="8865"/>
          <a:stretch>
            <a:fillRect/>
          </a:stretch>
        </p:blipFill>
        <p:spPr>
          <a:xfrm>
            <a:off x="7620000" y="1778000"/>
            <a:ext cx="3683000" cy="2984500"/>
          </a:xfrm>
          <a:prstGeom prst="roundRect">
            <a:avLst>
              <a:gd name="adj" fmla="val 10212"/>
            </a:avLst>
          </a:prstGeom>
          <a:effectLst>
            <a:outerShdw blurRad="317500" dist="114300" dir="5400000" algn="t" rotWithShape="0">
              <a:srgbClr val="22313F">
                <a:alpha val="18000"/>
              </a:srgbClr>
            </a:outerShdw>
          </a:effectLst>
        </p:spPr>
      </p:pic>
      <p:sp>
        <p:nvSpPr>
          <p:cNvPr id="21" name="Rounded Rectangle 20"/>
          <p:cNvSpPr/>
          <p:nvPr/>
        </p:nvSpPr>
        <p:spPr>
          <a:xfrm>
            <a:off x="7620000" y="5016500"/>
            <a:ext cx="3683000" cy="952500"/>
          </a:xfrm>
          <a:prstGeom prst="roundRect">
            <a:avLst>
              <a:gd name="adj" fmla="val 26666"/>
            </a:avLst>
          </a:prstGeom>
          <a:solidFill>
            <a:srgbClr val="1D2A38"/>
          </a:solidFill>
          <a:ln>
            <a:noFill/>
          </a:ln>
          <a:effectLst>
            <a:outerShdw blurRad="254000" dist="88900" dir="5400000" algn="t" rotWithShape="0">
              <a:srgbClr val="2231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20000" y="5016500"/>
            <a:ext cx="3683000" cy="952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8EE"/>
                </a:solidFill>
                <a:latin typeface="Segoe UI Black"/>
              </a:rPr>
              <a:t>Bienvenidos al equipo 💚</a:t>
            </a:r>
          </a:p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D86B"/>
                </a:solidFill>
                <a:latin typeface="Segoe UI"/>
              </a:rPr>
              <a:t>Demo final: 9 de diciembre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25000" y="6464300"/>
            <a:ext cx="2286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9AA6B2"/>
                </a:solidFill>
                <a:latin typeface="Segoe UI"/>
              </a:rPr>
              <a:t>TalentScope · DataNexo   34/35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781800"/>
            <a:ext cx="11842750" cy="76200"/>
          </a:xfrm>
          <a:prstGeom prst="rect">
            <a:avLst/>
          </a:prstGeom>
          <a:gradFill rotWithShape="1">
            <a:gsLst>
              <a:gs pos="0">
                <a:srgbClr val="7DD3B0"/>
              </a:gs>
              <a:gs pos="100000">
                <a:srgbClr val="B9A6F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89000" y="698500"/>
            <a:ext cx="104140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0">
                <a:solidFill>
                  <a:srgbClr val="22313F"/>
                </a:solidFill>
                <a:latin typeface="Segoe UI Black"/>
              </a:rPr>
              <a:t>Créditos de las imágenes 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000" y="1524000"/>
            <a:ext cx="10414000" cy="444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2313F"/>
                </a:solidFill>
                <a:latin typeface="Segoe UI"/>
              </a:rPr>
              <a:t>Young Man on a Job Interview (26931177139)</a:t>
            </a:r>
            <a:r>
              <a:rPr sz="1200" b="0">
                <a:solidFill>
                  <a:srgbClr val="5D6B78"/>
                </a:solidFill>
                <a:latin typeface="Segoe UI"/>
              </a:rPr>
              <a:t> — Amtec Photos · CC BY-SA 2.0 · Wikimedia Commons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sz="1200" b="1">
                <a:solidFill>
                  <a:srgbClr val="22313F"/>
                </a:solidFill>
                <a:latin typeface="Segoe UI"/>
              </a:rPr>
              <a:t>Thank goodness it's over! (Unsplash)</a:t>
            </a:r>
            <a:r>
              <a:rPr sz="1200" b="0">
                <a:solidFill>
                  <a:srgbClr val="5D6B78"/>
                </a:solidFill>
                <a:latin typeface="Segoe UI"/>
              </a:rPr>
              <a:t> — Juan Ramos juanmramosjr · CC0 · Wikimedia Commons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sz="1200" b="1">
                <a:solidFill>
                  <a:srgbClr val="22313F"/>
                </a:solidFill>
                <a:latin typeface="Segoe UI"/>
              </a:rPr>
              <a:t>Discussing business strategy (Unsplash)</a:t>
            </a:r>
            <a:r>
              <a:rPr sz="1200" b="0">
                <a:solidFill>
                  <a:srgbClr val="5D6B78"/>
                </a:solidFill>
                <a:latin typeface="Segoe UI"/>
              </a:rPr>
              <a:t> — rawpixel.com rawpixel · CC0 · Wikimedia Commons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sz="1200" b="1">
                <a:solidFill>
                  <a:srgbClr val="22313F"/>
                </a:solidFill>
                <a:latin typeface="Segoe UI"/>
              </a:rPr>
              <a:t>Statistics on a laptop (Unsplash)</a:t>
            </a:r>
            <a:r>
              <a:rPr sz="1200" b="0">
                <a:solidFill>
                  <a:srgbClr val="5D6B78"/>
                </a:solidFill>
                <a:latin typeface="Segoe UI"/>
              </a:rPr>
              <a:t> — Carlos Muza kmuza · CC0 · Wikimedia Commons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sz="1200" b="1">
                <a:solidFill>
                  <a:srgbClr val="22313F"/>
                </a:solidFill>
                <a:latin typeface="Segoe UI"/>
              </a:rPr>
              <a:t>Closeup of Excel Spreadsheet template to track printouts (29911005444)</a:t>
            </a:r>
            <a:r>
              <a:rPr sz="1200" b="0">
                <a:solidFill>
                  <a:srgbClr val="5D6B78"/>
                </a:solidFill>
                <a:latin typeface="Segoe UI"/>
              </a:rPr>
              <a:t> — Texas State Library and Archives Commission from Austin, TX, United States · CC BY 2.0 · Wikimedia Commons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sz="1200" b="1">
                <a:solidFill>
                  <a:srgbClr val="22313F"/>
                </a:solidFill>
                <a:latin typeface="Segoe UI"/>
              </a:rPr>
              <a:t>Skeleton programming code</a:t>
            </a:r>
            <a:r>
              <a:rPr sz="1200" b="0">
                <a:solidFill>
                  <a:srgbClr val="5D6B78"/>
                </a:solidFill>
                <a:latin typeface="Segoe UI"/>
              </a:rPr>
              <a:t> — Monky2020 · CC BY-SA 4.0 · Wikimedia Commons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sz="1200" b="1">
                <a:solidFill>
                  <a:srgbClr val="22313F"/>
                </a:solidFill>
                <a:latin typeface="Segoe UI"/>
              </a:rPr>
              <a:t>Pexels-luis-gomes-546819</a:t>
            </a:r>
            <a:r>
              <a:rPr sz="1200" b="0">
                <a:solidFill>
                  <a:srgbClr val="5D6B78"/>
                </a:solidFill>
                <a:latin typeface="Segoe UI"/>
              </a:rPr>
              <a:t> — luis gomes · CC0 · Wikimedia Commons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sz="1200" b="1">
                <a:solidFill>
                  <a:srgbClr val="22313F"/>
                </a:solidFill>
                <a:latin typeface="Segoe UI"/>
              </a:rPr>
              <a:t>Young man working on a couch (Unsplash)</a:t>
            </a:r>
            <a:r>
              <a:rPr sz="1200" b="0">
                <a:solidFill>
                  <a:srgbClr val="5D6B78"/>
                </a:solidFill>
                <a:latin typeface="Segoe UI"/>
              </a:rPr>
              <a:t> — rawpixel.com rawpixel · CC0 · Wikimedia Commons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sz="1200" b="1">
                <a:solidFill>
                  <a:srgbClr val="22313F"/>
                </a:solidFill>
                <a:latin typeface="Segoe UI"/>
              </a:rPr>
              <a:t>Working on a laptop outdoors (Unsplash)</a:t>
            </a:r>
            <a:r>
              <a:rPr sz="1200" b="0">
                <a:solidFill>
                  <a:srgbClr val="5D6B78"/>
                </a:solidFill>
                <a:latin typeface="Segoe UI"/>
              </a:rPr>
              <a:t> — Alejandro Escamilla alejandroescamilla · CC0 · Wikimedia Commons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9000" y="6096000"/>
            <a:ext cx="10414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9AA6B2"/>
                </a:solidFill>
                <a:latin typeface="Segoe UI"/>
              </a:rPr>
              <a:t>Datos, empresas y cifras del proyecto son simulados con fines educativos.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5000" y="6464300"/>
            <a:ext cx="2286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9AA6B2"/>
                </a:solidFill>
                <a:latin typeface="Segoe UI"/>
              </a:rPr>
              <a:t>TalentScope · DataNexo   35/35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1800"/>
            <a:ext cx="12192000" cy="76200"/>
          </a:xfrm>
          <a:prstGeom prst="rect">
            <a:avLst/>
          </a:prstGeom>
          <a:gradFill rotWithShape="1">
            <a:gsLst>
              <a:gs pos="0">
                <a:srgbClr val="7DD3B0"/>
              </a:gs>
              <a:gs pos="100000">
                <a:srgbClr val="B9A6F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